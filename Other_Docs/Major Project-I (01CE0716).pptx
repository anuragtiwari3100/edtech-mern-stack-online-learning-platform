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8"/>
  </p:notesMasterIdLst>
  <p:sldIdLst>
    <p:sldId id="256" r:id="rId2"/>
    <p:sldId id="257" r:id="rId3"/>
    <p:sldId id="258" r:id="rId4"/>
    <p:sldId id="259" r:id="rId5"/>
    <p:sldId id="261" r:id="rId6"/>
    <p:sldId id="263" r:id="rId7"/>
    <p:sldId id="282" r:id="rId8"/>
    <p:sldId id="280" r:id="rId9"/>
    <p:sldId id="294" r:id="rId10"/>
    <p:sldId id="281" r:id="rId11"/>
    <p:sldId id="297" r:id="rId12"/>
    <p:sldId id="295" r:id="rId13"/>
    <p:sldId id="296" r:id="rId14"/>
    <p:sldId id="264" r:id="rId15"/>
    <p:sldId id="265" r:id="rId16"/>
    <p:sldId id="290" r:id="rId17"/>
    <p:sldId id="266" r:id="rId18"/>
    <p:sldId id="269" r:id="rId19"/>
    <p:sldId id="291" r:id="rId20"/>
    <p:sldId id="292" r:id="rId21"/>
    <p:sldId id="293" r:id="rId22"/>
    <p:sldId id="270" r:id="rId23"/>
    <p:sldId id="271" r:id="rId24"/>
    <p:sldId id="272" r:id="rId25"/>
    <p:sldId id="277" r:id="rId26"/>
    <p:sldId id="298" r:id="rId27"/>
    <p:sldId id="299" r:id="rId28"/>
    <p:sldId id="300" r:id="rId29"/>
    <p:sldId id="301" r:id="rId30"/>
    <p:sldId id="302" r:id="rId31"/>
    <p:sldId id="303" r:id="rId32"/>
    <p:sldId id="304" r:id="rId33"/>
    <p:sldId id="305" r:id="rId34"/>
    <p:sldId id="306" r:id="rId35"/>
    <p:sldId id="308" r:id="rId36"/>
    <p:sldId id="307" r:id="rId37"/>
    <p:sldId id="309" r:id="rId38"/>
    <p:sldId id="310" r:id="rId39"/>
    <p:sldId id="278" r:id="rId40"/>
    <p:sldId id="279" r:id="rId41"/>
    <p:sldId id="284" r:id="rId42"/>
    <p:sldId id="285" r:id="rId43"/>
    <p:sldId id="311" r:id="rId44"/>
    <p:sldId id="275" r:id="rId45"/>
    <p:sldId id="276" r:id="rId46"/>
    <p:sldId id="260" r:id="rId47"/>
  </p:sldIdLst>
  <p:sldSz cx="12192000" cy="6858000"/>
  <p:notesSz cx="6858000" cy="9144000"/>
  <p:embeddedFontLst>
    <p:embeddedFont>
      <p:font typeface="Calibri" panose="020F0502020204030204" pitchFamily="34" charset="0"/>
      <p:regular r:id="rId49"/>
      <p:bold r:id="rId50"/>
      <p:italic r:id="rId51"/>
      <p:boldItalic r:id="rId52"/>
    </p:embeddedFont>
    <p:embeddedFont>
      <p:font typeface="Proxima Nova" panose="020B060402020202020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A+2nPyMWBN538PGGglQVWGl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A2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7" autoAdjust="0"/>
    <p:restoredTop sz="96301"/>
  </p:normalViewPr>
  <p:slideViewPr>
    <p:cSldViewPr snapToGrid="0">
      <p:cViewPr varScale="1">
        <p:scale>
          <a:sx n="93" d="100"/>
          <a:sy n="93" d="100"/>
        </p:scale>
        <p:origin x="211"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3635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B6D9708-8901-A263-7EAC-9DEB88EF870C}"/>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3860263-E76F-BB58-285C-356A8B8F8C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76CC0174-23EB-5F68-6E4B-0F610EB41E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9982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63F0BE9-F44E-E584-93C5-CD0E7538990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B011C31-D5B6-E2D3-76FF-4BB9F39EBC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857355D6-7228-D69F-33A1-D838E00B98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3831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EE1FFB0-9428-60DA-7480-ED041927B5D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CB76DDA-6D93-CA9C-C4AE-174A7EFF95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69BE972E-6E38-9236-FFFA-C6D286C3EC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615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EE1FFB0-9428-60DA-7480-ED041927B5D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CB76DDA-6D93-CA9C-C4AE-174A7EFF95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69BE972E-6E38-9236-FFFA-C6D286C3EC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7655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5A17448-C06E-11DC-C6A3-0C1EEA8137C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9FD5305-B867-2CCD-81DC-D76BC76261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FB95756-B0A8-03DC-C1F8-5FF42FEC1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8168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5A17448-C06E-11DC-C6A3-0C1EEA8137C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9FD5305-B867-2CCD-81DC-D76BC76261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FB95756-B0A8-03DC-C1F8-5FF42FEC1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9176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5A17448-C06E-11DC-C6A3-0C1EEA8137C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9FD5305-B867-2CCD-81DC-D76BC76261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FB95756-B0A8-03DC-C1F8-5FF42FEC1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7757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5A17448-C06E-11DC-C6A3-0C1EEA8137C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9FD5305-B867-2CCD-81DC-D76BC76261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FB95756-B0A8-03DC-C1F8-5FF42FEC1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9641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7358B6D-7A79-A60C-FB3A-EE16410C2D4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3266A4FA-773D-2ED7-2214-49B5F60221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545632A-805F-6F60-ADAF-46CFC7E01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6669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03EC08D-9C58-B2AF-87FB-C42B128C72A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E5CB9FA-44D7-D210-A9A5-2A3BB49533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7313458-8D40-8988-A27F-8F94A2939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0577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03EC08D-9C58-B2AF-87FB-C42B128C72A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E5CB9FA-44D7-D210-A9A5-2A3BB49533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7313458-8D40-8988-A27F-8F94A2939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7938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85C786A-82A9-5F8D-3F1E-A3F16FE6549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D464960-44A1-2C90-4914-1E8ECB38CC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9AB5FFA6-6778-FEC7-8549-E7DA2F79CA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452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140D16-194B-5379-6A73-E216F2257C67}"/>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317FDC5-D243-281A-23D9-0620A0D19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45FCEBB-AFB2-B3F2-5B31-819ACB224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9017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140D16-194B-5379-6A73-E216F2257C67}"/>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317FDC5-D243-281A-23D9-0620A0D19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45FCEBB-AFB2-B3F2-5B31-819ACB224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2663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140D16-194B-5379-6A73-E216F2257C67}"/>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317FDC5-D243-281A-23D9-0620A0D19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45FCEBB-AFB2-B3F2-5B31-819ACB224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554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140D16-194B-5379-6A73-E216F2257C67}"/>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317FDC5-D243-281A-23D9-0620A0D19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45FCEBB-AFB2-B3F2-5B31-819ACB224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4016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6D33E20-956A-E383-C79A-948D4E4A10F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0DA5F47-991A-D52A-FE46-67898EB992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81C4BD84-9849-B6FE-4A1F-EC365A88F6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8998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2AABF7B-8498-9771-561B-192D69418F0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C8D19DEC-DB5D-182D-3BF1-84F1481D63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9F60B35B-7417-7C98-3EFB-34244D6D07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7434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3C186DF-0627-1B23-709A-E25EEE5D1D4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7A20815-2BE0-2726-73BE-DF3B105C3D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6E44C86-080C-5517-FA92-591AD600FD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3267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63657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7381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818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49378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5600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8299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65715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89784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05594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51700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70412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14865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54121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8675F4-EB2B-89AD-41E1-0F5B31030A5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4B0EF17-38E6-4F22-C1A4-699A2DC0C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AA90AF7-788E-C738-E95C-61CCCAFEB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1714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6B377B5-90C2-7A51-A01C-87840F85FDD8}"/>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88FECAC-E95A-4BB8-05DD-BE3728FBE0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10B2E95-9336-1B20-4AE9-7A2D4581E5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90089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E41D260-630D-4E73-BB1A-7F036A470A87}"/>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0764463-13B4-30FB-45D1-2DD1EC52F1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5BFAA20-076F-47AB-234E-49BA329F12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31810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EAC6A36-9858-A1D9-0C8E-F11B22A4FEF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3DD17A05-18B2-69C1-F230-81EA6E705A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6A5ABBED-8168-5FDE-1426-595D8C04EB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62748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87A57CC-AF85-3021-2DB3-F226C2FBCCF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E8D1D54-5304-417E-E6E1-875D028E82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1A7D340-FE1D-FE7A-6BD7-13E3C31F8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02890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87A57CC-AF85-3021-2DB3-F226C2FBCCF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E8D1D54-5304-417E-E6E1-875D028E82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C1A7D340-FE1D-FE7A-6BD7-13E3C31F8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4968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7CFB45A-67F9-BE3E-F271-5994E523F05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D31229F-AC22-F508-E0C2-4A8D5F0A82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91D4E2F-E579-139A-6DE2-8653E5683F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63614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E4626A9-BBCA-093D-0CAE-778D1467BBBF}"/>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0EB6AE1-6F64-6503-9B28-BEB86F7414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27A39C3-08E2-93A2-C360-64F994A3D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75883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www.mongodb.com/docs?utm_source=chatgpt.com"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704935" y="3671703"/>
            <a:ext cx="6678000" cy="738633"/>
          </a:xfrm>
          <a:prstGeom prst="rect">
            <a:avLst/>
          </a:prstGeom>
          <a:noFill/>
          <a:ln>
            <a:noFill/>
          </a:ln>
        </p:spPr>
        <p:txBody>
          <a:bodyPr spcFirstLastPara="1" wrap="square" lIns="91425" tIns="91425" rIns="91425" bIns="91425" anchor="t" anchorCtr="0">
            <a:spAutoFit/>
          </a:bodyPr>
          <a:lstStyle/>
          <a:p>
            <a:pPr lvl="0" algn="just"/>
            <a:r>
              <a:rPr lang="en-US" sz="1800" dirty="0">
                <a:solidFill>
                  <a:schemeClr val="dk1"/>
                </a:solidFill>
                <a:ea typeface="Proxima Nova"/>
                <a:cs typeface="Proxima Nova"/>
                <a:sym typeface="Proxima Nova"/>
              </a:rPr>
              <a:t>Team Member 1: Anurag Tiwari (92201703100) (7EC3)</a:t>
            </a:r>
            <a:endParaRPr lang="en-US" sz="1800" dirty="0"/>
          </a:p>
          <a:p>
            <a:pPr lvl="0" algn="just"/>
            <a:endParaRPr lang="en-US" sz="1800" dirty="0">
              <a:solidFill>
                <a:schemeClr val="dk1"/>
              </a:solidFill>
              <a:latin typeface="+mj-lt"/>
              <a:ea typeface="Proxima Nova"/>
              <a:cs typeface="Proxima Nova"/>
              <a:sym typeface="Proxima Nova"/>
            </a:endParaRPr>
          </a:p>
        </p:txBody>
      </p:sp>
      <p:sp>
        <p:nvSpPr>
          <p:cNvPr id="89" name="Google Shape;89;p2"/>
          <p:cNvSpPr txBox="1"/>
          <p:nvPr/>
        </p:nvSpPr>
        <p:spPr>
          <a:xfrm>
            <a:off x="2844024" y="2646735"/>
            <a:ext cx="7195800" cy="782265"/>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a:buNone/>
            </a:pPr>
            <a:r>
              <a:rPr lang="en-US" sz="2800" dirty="0">
                <a:latin typeface="+mj-lt"/>
                <a:cs typeface="Times New Roman" panose="02020603050405020304" pitchFamily="18" charset="0"/>
              </a:rPr>
              <a:t>online learning platforms</a:t>
            </a:r>
            <a:endParaRPr lang="en-US" sz="2800" b="0" i="0" u="none" strike="noStrike" cap="none" dirty="0">
              <a:solidFill>
                <a:srgbClr val="04A2B9"/>
              </a:solidFill>
              <a:latin typeface="+mj-lt"/>
              <a:ea typeface="Proxima Nova"/>
              <a:cs typeface="Proxima Nova"/>
              <a:sym typeface="Proxima Nova"/>
            </a:endParaRPr>
          </a:p>
          <a:p>
            <a:pPr marL="12700" marR="0" lvl="0" indent="0" algn="ctr" rtl="0">
              <a:lnSpc>
                <a:spcPct val="100000"/>
              </a:lnSpc>
              <a:spcBef>
                <a:spcPts val="0"/>
              </a:spcBef>
              <a:spcAft>
                <a:spcPts val="0"/>
              </a:spcAft>
              <a:buClr>
                <a:srgbClr val="04A2B9"/>
              </a:buClr>
              <a:buSzPts val="2800"/>
              <a:buFont typeface="Proxima Nova"/>
              <a:buNone/>
            </a:pPr>
            <a:r>
              <a:rPr lang="en-US" sz="2200" b="0" i="0" u="none" strike="noStrike" cap="none" dirty="0">
                <a:solidFill>
                  <a:srgbClr val="04A2B9"/>
                </a:solidFill>
                <a:latin typeface="+mj-lt"/>
                <a:ea typeface="Proxima Nova"/>
                <a:cs typeface="Proxima Nova"/>
                <a:sym typeface="Proxima Nova"/>
              </a:rPr>
              <a:t>Team ID: </a:t>
            </a:r>
            <a:r>
              <a:rPr lang="en-US" sz="2200" dirty="0">
                <a:solidFill>
                  <a:schemeClr val="tx1"/>
                </a:solidFill>
                <a:latin typeface="+mj-lt"/>
                <a:ea typeface="Proxima Nova"/>
                <a:cs typeface="Proxima Nova"/>
                <a:sym typeface="Proxima Nova"/>
              </a:rPr>
              <a:t>7CE_158</a:t>
            </a:r>
            <a:endParaRPr lang="en-US" sz="2200" b="0" i="0" u="none" strike="noStrike" cap="none" dirty="0">
              <a:solidFill>
                <a:schemeClr val="tx1"/>
              </a:solidFill>
              <a:latin typeface="+mj-lt"/>
              <a:ea typeface="Proxima Nova"/>
              <a:cs typeface="Proxima Nova"/>
              <a:sym typeface="Proxima Nova"/>
            </a:endParaRPr>
          </a:p>
        </p:txBody>
      </p:sp>
      <p:sp>
        <p:nvSpPr>
          <p:cNvPr id="90" name="Google Shape;90;p2"/>
          <p:cNvSpPr txBox="1"/>
          <p:nvPr/>
        </p:nvSpPr>
        <p:spPr>
          <a:xfrm>
            <a:off x="5459831" y="4648758"/>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rgbClr val="595959"/>
                </a:solidFill>
                <a:latin typeface="+mj-lt"/>
                <a:ea typeface="Proxima Nova"/>
                <a:cs typeface="Proxima Nova"/>
                <a:sym typeface="Proxima Nova"/>
              </a:rPr>
              <a:t>Guided By</a:t>
            </a:r>
            <a:endParaRPr dirty="0">
              <a:latin typeface="+mj-lt"/>
            </a:endParaRPr>
          </a:p>
        </p:txBody>
      </p:sp>
      <p:sp>
        <p:nvSpPr>
          <p:cNvPr id="91" name="Google Shape;91;p2"/>
          <p:cNvSpPr txBox="1"/>
          <p:nvPr/>
        </p:nvSpPr>
        <p:spPr>
          <a:xfrm>
            <a:off x="3095072" y="5045010"/>
            <a:ext cx="5742683" cy="461635"/>
          </a:xfrm>
          <a:prstGeom prst="rect">
            <a:avLst/>
          </a:prstGeom>
          <a:noFill/>
          <a:ln>
            <a:noFill/>
          </a:ln>
        </p:spPr>
        <p:txBody>
          <a:bodyPr spcFirstLastPara="1" wrap="square" lIns="91425" tIns="91425" rIns="91425" bIns="91425" anchor="t" anchorCtr="0">
            <a:spAutoFit/>
          </a:bodyPr>
          <a:lstStyle/>
          <a:p>
            <a:pPr lvl="0" algn="ctr">
              <a:buSzPts val="1800"/>
            </a:pPr>
            <a:r>
              <a:rPr lang="en-US" sz="1800" b="1" dirty="0">
                <a:solidFill>
                  <a:schemeClr val="dk1"/>
                </a:solidFill>
                <a:latin typeface="+mj-lt"/>
                <a:ea typeface="Proxima Nova"/>
                <a:cs typeface="Proxima Nova"/>
                <a:sym typeface="Proxima Nova"/>
              </a:rPr>
              <a:t>     Internal Guide Name: </a:t>
            </a:r>
            <a:r>
              <a:rPr lang="en-US" sz="1800" dirty="0">
                <a:solidFill>
                  <a:schemeClr val="dk1"/>
                </a:solidFill>
                <a:latin typeface="+mj-lt"/>
                <a:ea typeface="Proxima Nova"/>
                <a:cs typeface="Proxima Nova"/>
                <a:sym typeface="Proxima Nova"/>
              </a:rPr>
              <a:t>Prof. Rupesh </a:t>
            </a:r>
            <a:r>
              <a:rPr lang="en-US" sz="1800" dirty="0" err="1">
                <a:solidFill>
                  <a:schemeClr val="dk1"/>
                </a:solidFill>
                <a:latin typeface="+mj-lt"/>
                <a:ea typeface="Proxima Nova"/>
                <a:cs typeface="Proxima Nova"/>
                <a:sym typeface="Proxima Nova"/>
              </a:rPr>
              <a:t>Kanojiya</a:t>
            </a:r>
            <a:endParaRPr lang="en-US" sz="1800" dirty="0">
              <a:latin typeface="+mj-lt"/>
            </a:endParaRP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dirty="0"/>
          </a:p>
        </p:txBody>
      </p:sp>
      <p:sp>
        <p:nvSpPr>
          <p:cNvPr id="93" name="Google Shape;93;p2"/>
          <p:cNvSpPr txBox="1"/>
          <p:nvPr/>
        </p:nvSpPr>
        <p:spPr>
          <a:xfrm>
            <a:off x="2965326" y="1308954"/>
            <a:ext cx="6504000" cy="1533753"/>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a:buNone/>
            </a:pPr>
            <a:r>
              <a:rPr lang="en-US" sz="3200" b="1" dirty="0">
                <a:solidFill>
                  <a:srgbClr val="04A2B9"/>
                </a:solidFill>
                <a:latin typeface="+mj-lt"/>
                <a:sym typeface="Proxima Nova"/>
              </a:rPr>
              <a:t>Major</a:t>
            </a:r>
            <a:r>
              <a:rPr lang="en-US" sz="3200" b="1" i="0" u="none" strike="noStrike" cap="none" dirty="0">
                <a:solidFill>
                  <a:srgbClr val="04A2B9"/>
                </a:solidFill>
                <a:latin typeface="+mj-lt"/>
                <a:ea typeface="Proxima Nova"/>
                <a:cs typeface="Proxima Nova"/>
                <a:sym typeface="Proxima Nova"/>
              </a:rPr>
              <a:t> </a:t>
            </a:r>
            <a:r>
              <a:rPr lang="en-US" sz="3200" b="1" dirty="0">
                <a:solidFill>
                  <a:srgbClr val="04A2B9"/>
                </a:solidFill>
                <a:latin typeface="+mj-lt"/>
                <a:sym typeface="Proxima Nova"/>
              </a:rPr>
              <a:t>Project-I</a:t>
            </a:r>
            <a:r>
              <a:rPr lang="en-US" sz="3200" b="1" i="0" u="none" strike="noStrike" cap="none" dirty="0">
                <a:solidFill>
                  <a:srgbClr val="04A2B9"/>
                </a:solidFill>
                <a:latin typeface="+mj-lt"/>
                <a:ea typeface="Proxima Nova"/>
                <a:cs typeface="Proxima Nova"/>
                <a:sym typeface="Proxima Nova"/>
              </a:rPr>
              <a:t> (01CE0716)</a:t>
            </a:r>
            <a:endParaRPr sz="3200" b="1" dirty="0">
              <a:latin typeface="+mj-lt"/>
            </a:endParaRPr>
          </a:p>
          <a:p>
            <a:pPr marL="12700" marR="0" lvl="0" indent="0" algn="ctr" rtl="0">
              <a:lnSpc>
                <a:spcPct val="100000"/>
              </a:lnSpc>
              <a:spcBef>
                <a:spcPts val="100"/>
              </a:spcBef>
              <a:spcAft>
                <a:spcPts val="0"/>
              </a:spcAft>
              <a:buClr>
                <a:srgbClr val="04A2B9"/>
              </a:buClr>
              <a:buSzPts val="2200"/>
              <a:buFont typeface="Proxima Nova"/>
              <a:buNone/>
            </a:pPr>
            <a:r>
              <a:rPr lang="en-US" sz="2200" b="0" i="0" u="none" strike="noStrike" cap="none" dirty="0">
                <a:solidFill>
                  <a:srgbClr val="04A2B9"/>
                </a:solidFill>
                <a:latin typeface="+mj-lt"/>
                <a:ea typeface="Proxima Nova"/>
                <a:cs typeface="Proxima Nova"/>
                <a:sym typeface="Proxima Nova"/>
              </a:rPr>
              <a:t>Review 1 </a:t>
            </a:r>
            <a:br>
              <a:rPr lang="en-US" sz="2200" b="0" i="0" u="none" strike="noStrike" cap="none" dirty="0">
                <a:solidFill>
                  <a:srgbClr val="04A2B9"/>
                </a:solidFill>
                <a:latin typeface="+mj-lt"/>
                <a:ea typeface="Proxima Nova"/>
                <a:cs typeface="Proxima Nova"/>
                <a:sym typeface="Proxima Nova"/>
              </a:rPr>
            </a:br>
            <a:r>
              <a:rPr lang="en-US" sz="2200" b="0" i="0" u="none" strike="noStrike" cap="none" dirty="0">
                <a:solidFill>
                  <a:srgbClr val="04A2B9"/>
                </a:solidFill>
                <a:latin typeface="+mj-lt"/>
                <a:ea typeface="Proxima Nova"/>
                <a:cs typeface="Proxima Nova"/>
                <a:sym typeface="Proxima Nova"/>
              </a:rPr>
              <a:t>(</a:t>
            </a:r>
            <a:r>
              <a:rPr lang="en-US" sz="2200" b="0" i="0" u="none" strike="noStrike" cap="none" dirty="0">
                <a:solidFill>
                  <a:schemeClr val="tx1"/>
                </a:solidFill>
                <a:latin typeface="+mj-lt"/>
                <a:ea typeface="Proxima Nova"/>
                <a:cs typeface="Proxima Nova"/>
                <a:sym typeface="Proxima Nova"/>
              </a:rPr>
              <a:t>23/08/2025</a:t>
            </a:r>
            <a:r>
              <a:rPr lang="en-US" sz="2200" b="0" i="0" u="none" strike="noStrike" cap="none" dirty="0">
                <a:solidFill>
                  <a:srgbClr val="04A2B9"/>
                </a:solidFill>
                <a:latin typeface="+mj-lt"/>
                <a:ea typeface="Proxima Nova"/>
                <a:cs typeface="Proxima Nova"/>
                <a:sym typeface="Proxima Nova"/>
              </a:rPr>
              <a:t>)</a:t>
            </a:r>
            <a:br>
              <a:rPr lang="en-US" sz="2200" b="0" i="0" u="none" strike="noStrike" cap="none" dirty="0">
                <a:solidFill>
                  <a:srgbClr val="04A2B9"/>
                </a:solidFill>
                <a:latin typeface="+mj-lt"/>
                <a:ea typeface="Proxima Nova"/>
                <a:cs typeface="Proxima Nova"/>
                <a:sym typeface="Proxima Nova"/>
              </a:rPr>
            </a:br>
            <a:endParaRPr sz="2200" b="0" i="0" u="none" strike="noStrike" cap="none" dirty="0">
              <a:solidFill>
                <a:schemeClr val="dk1"/>
              </a:solidFill>
              <a:latin typeface="+mj-lt"/>
              <a:ea typeface="Proxima Nova"/>
              <a:cs typeface="Proxima Nova"/>
              <a:sym typeface="Proxima Nova"/>
            </a:endParaRPr>
          </a:p>
        </p:txBody>
      </p:sp>
      <p:sp>
        <p:nvSpPr>
          <p:cNvPr id="94" name="Google Shape;94;p2"/>
          <p:cNvSpPr txBox="1"/>
          <p:nvPr/>
        </p:nvSpPr>
        <p:spPr>
          <a:xfrm>
            <a:off x="2293191" y="5643518"/>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a:buNone/>
            </a:pPr>
            <a:r>
              <a:rPr lang="en-US" sz="2400" b="0" i="0" u="none" strike="noStrike" cap="none" dirty="0">
                <a:solidFill>
                  <a:srgbClr val="04A2B9"/>
                </a:solidFill>
                <a:latin typeface="+mj-lt"/>
                <a:ea typeface="Proxima Nova"/>
                <a:cs typeface="Proxima Nova"/>
                <a:sym typeface="Proxima Nova"/>
              </a:rPr>
              <a:t>Department of Computer Engineering,</a:t>
            </a:r>
            <a:br>
              <a:rPr lang="en-US" sz="2400" b="0" i="0" u="none" strike="noStrike" cap="none" dirty="0">
                <a:solidFill>
                  <a:srgbClr val="04A2B9"/>
                </a:solidFill>
                <a:latin typeface="+mj-lt"/>
                <a:ea typeface="Proxima Nova"/>
                <a:cs typeface="Proxima Nova"/>
                <a:sym typeface="Proxima Nova"/>
              </a:rPr>
            </a:br>
            <a:r>
              <a:rPr lang="en-US" sz="2400" b="0" i="0" u="none" strike="noStrike" cap="none" dirty="0">
                <a:solidFill>
                  <a:srgbClr val="04A2B9"/>
                </a:solidFill>
                <a:latin typeface="+mj-lt"/>
                <a:ea typeface="Proxima Nova"/>
                <a:cs typeface="Proxima Nova"/>
                <a:sym typeface="Proxima Nova"/>
              </a:rPr>
              <a:t>Faculty of Engineering &amp; Technology</a:t>
            </a:r>
            <a:r>
              <a:rPr lang="en-US" sz="3600" b="0" i="0" u="none" strike="noStrike" cap="none" dirty="0">
                <a:solidFill>
                  <a:srgbClr val="04A2B9"/>
                </a:solidFill>
                <a:latin typeface="+mj-lt"/>
                <a:ea typeface="Proxima Nova"/>
                <a:cs typeface="Proxima Nova"/>
                <a:sym typeface="Proxima Nova"/>
              </a:rPr>
              <a:t> </a:t>
            </a:r>
            <a:endParaRPr sz="3600" b="0" i="0" u="none" strike="noStrike" cap="none" dirty="0">
              <a:solidFill>
                <a:schemeClr val="dk1"/>
              </a:solidFill>
              <a:latin typeface="+mj-lt"/>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mj-lt"/>
                <a:sym typeface="Proxima Nova"/>
              </a:rPr>
              <a:t>Outline</a:t>
            </a:r>
            <a:endParaRPr sz="2400" b="1" dirty="0">
              <a:solidFill>
                <a:srgbClr val="04A2B9"/>
              </a:solidFill>
              <a:latin typeface="+mj-lt"/>
              <a:sym typeface="Proxima Nova"/>
            </a:endParaRPr>
          </a:p>
        </p:txBody>
      </p:sp>
      <p:sp>
        <p:nvSpPr>
          <p:cNvPr id="100" name="Google Shape;100;p3"/>
          <p:cNvSpPr txBox="1"/>
          <p:nvPr/>
        </p:nvSpPr>
        <p:spPr>
          <a:xfrm>
            <a:off x="805504" y="1066785"/>
            <a:ext cx="8591100" cy="4832062"/>
          </a:xfrm>
          <a:prstGeom prst="rect">
            <a:avLst/>
          </a:prstGeom>
          <a:noFill/>
          <a:ln>
            <a:noFill/>
          </a:ln>
        </p:spPr>
        <p:txBody>
          <a:bodyPr spcFirstLastPara="1" wrap="square" lIns="91425" tIns="91425" rIns="91425" bIns="91425" anchor="t" anchorCtr="0">
            <a:spAutoFit/>
          </a:bodyPr>
          <a:lstStyle/>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Design(Activity Diagram, ER Diagram)</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Features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Tools and Technologies used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GUI (Frontend)</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Store data in </a:t>
            </a:r>
            <a:r>
              <a:rPr lang="en-IN" sz="2400" dirty="0" err="1">
                <a:latin typeface="Times New Roman" panose="02020603050405020304" pitchFamily="18" charset="0"/>
                <a:cs typeface="Times New Roman" panose="02020603050405020304" pitchFamily="18" charset="0"/>
              </a:rPr>
              <a:t>Supabase</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p>
          <a:p>
            <a:pPr lvl="0"/>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28028"/>
            <a:ext cx="2320909"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mj-lt"/>
              </a:rPr>
              <a:t>Introduction</a:t>
            </a:r>
          </a:p>
        </p:txBody>
      </p:sp>
      <p:sp>
        <p:nvSpPr>
          <p:cNvPr id="2" name="TextBox 1">
            <a:extLst>
              <a:ext uri="{FF2B5EF4-FFF2-40B4-BE49-F238E27FC236}">
                <a16:creationId xmlns:a16="http://schemas.microsoft.com/office/drawing/2014/main" id="{7D17DE55-9A46-8AFE-7BA8-427953838BC8}"/>
              </a:ext>
            </a:extLst>
          </p:cNvPr>
          <p:cNvSpPr txBox="1"/>
          <p:nvPr/>
        </p:nvSpPr>
        <p:spPr>
          <a:xfrm>
            <a:off x="534259" y="1911369"/>
            <a:ext cx="10154679" cy="4457567"/>
          </a:xfrm>
          <a:prstGeom prst="rect">
            <a:avLst/>
          </a:prstGeom>
          <a:noFill/>
        </p:spPr>
        <p:txBody>
          <a:bodyPr wrap="square" rtlCol="0">
            <a:spAutoFit/>
          </a:bodyPr>
          <a:lstStyle/>
          <a:p>
            <a:pPr algn="just">
              <a:lnSpc>
                <a:spcPct val="150000"/>
              </a:lnSpc>
            </a:pPr>
            <a:r>
              <a:rPr lang="en-US" sz="2400" b="1" dirty="0" err="1"/>
              <a:t>StudyNotion</a:t>
            </a:r>
            <a:r>
              <a:rPr lang="en-US" sz="2400" dirty="0"/>
              <a:t> is a fully functional ed-tech platform developed using the </a:t>
            </a:r>
            <a:r>
              <a:rPr lang="en-US" sz="2400" b="1" dirty="0"/>
              <a:t>MERN</a:t>
            </a:r>
            <a:r>
              <a:rPr lang="en-US" sz="2400" dirty="0"/>
              <a:t> stack (</a:t>
            </a:r>
            <a:r>
              <a:rPr lang="en-US" sz="2400" b="1" dirty="0"/>
              <a:t>MongoDB, Express.js, ReactJS, Node.js</a:t>
            </a:r>
            <a:r>
              <a:rPr lang="en-US" sz="2400" dirty="0"/>
              <a:t>). The platform allows users to </a:t>
            </a:r>
            <a:r>
              <a:rPr lang="en-US" sz="2400" b="1" dirty="0"/>
              <a:t>create</a:t>
            </a:r>
            <a:r>
              <a:rPr lang="en-US" sz="2400" dirty="0"/>
              <a:t>, </a:t>
            </a:r>
            <a:r>
              <a:rPr lang="en-US" sz="2400" b="1" dirty="0"/>
              <a:t>consume</a:t>
            </a:r>
            <a:r>
              <a:rPr lang="en-US" sz="2400" dirty="0"/>
              <a:t>, and </a:t>
            </a:r>
            <a:r>
              <a:rPr lang="en-US" sz="2400" b="1" dirty="0"/>
              <a:t>rate</a:t>
            </a:r>
            <a:r>
              <a:rPr lang="en-US" sz="2400" dirty="0"/>
              <a:t> educational content while ensuring a seamless and interactive learning experience for students. It also provides instructors with a global platform to showcase their expertise. Key features include course management, secure user authentication, media handling, and a rating system for feedback and engagement.</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400" b="1" dirty="0">
                <a:solidFill>
                  <a:srgbClr val="04A2B9"/>
                </a:solidFill>
                <a:latin typeface="+mj-lt"/>
              </a:rPr>
              <a:t>Abstract</a:t>
            </a:r>
            <a:endParaRPr sz="2400" b="1" dirty="0">
              <a:solidFill>
                <a:srgbClr val="04A2B9"/>
              </a:solidFill>
              <a:latin typeface="+mj-lt"/>
              <a:ea typeface="Proxima Nova"/>
              <a:cs typeface="Proxima Nova"/>
              <a:sym typeface="Proxima Nova"/>
            </a:endParaRPr>
          </a:p>
        </p:txBody>
      </p:sp>
      <p:sp>
        <p:nvSpPr>
          <p:cNvPr id="106" name="Google Shape;106;p4"/>
          <p:cNvSpPr txBox="1"/>
          <p:nvPr/>
        </p:nvSpPr>
        <p:spPr>
          <a:xfrm>
            <a:off x="534259" y="1377822"/>
            <a:ext cx="10075017" cy="5170616"/>
          </a:xfrm>
          <a:prstGeom prst="rect">
            <a:avLst/>
          </a:prstGeom>
          <a:noFill/>
          <a:ln>
            <a:noFill/>
          </a:ln>
        </p:spPr>
        <p:txBody>
          <a:bodyPr spcFirstLastPara="1" wrap="square" lIns="91425" tIns="91425" rIns="91425" bIns="91425" anchor="t" anchorCtr="0">
            <a:spAutoFit/>
          </a:bodyPr>
          <a:lstStyle/>
          <a:p>
            <a:pPr algn="just">
              <a:lnSpc>
                <a:spcPct val="150000"/>
              </a:lnSpc>
            </a:pPr>
            <a:r>
              <a:rPr lang="en-US" sz="2400" b="1" dirty="0" err="1"/>
              <a:t>StudyNotion</a:t>
            </a:r>
            <a:r>
              <a:rPr lang="en-US" sz="2400" dirty="0"/>
              <a:t> is a comprehensive </a:t>
            </a:r>
            <a:r>
              <a:rPr lang="en-US" sz="2400" b="1" dirty="0"/>
              <a:t>ed-tech</a:t>
            </a:r>
            <a:r>
              <a:rPr lang="en-US" sz="2400" dirty="0"/>
              <a:t> platform designed to enhance learning and teaching experiences for both students and instructors. The platform supports secure user authentication and profile management, course creation, consumption, and rating, as well as cloud-based media management using </a:t>
            </a:r>
            <a:r>
              <a:rPr lang="en-US" sz="2400" dirty="0" err="1"/>
              <a:t>Cloudinary</a:t>
            </a:r>
            <a:r>
              <a:rPr lang="en-US" sz="2400" dirty="0"/>
              <a:t> for videos, images, and documents. The frontend is developed with </a:t>
            </a:r>
            <a:r>
              <a:rPr lang="en-US" sz="2400" b="1" dirty="0"/>
              <a:t>ReactJS</a:t>
            </a:r>
            <a:r>
              <a:rPr lang="en-US" sz="2400" dirty="0"/>
              <a:t>, </a:t>
            </a:r>
            <a:r>
              <a:rPr lang="en-US" sz="2400" b="1" dirty="0"/>
              <a:t>Tailwind</a:t>
            </a:r>
            <a:r>
              <a:rPr lang="en-US" sz="2400" dirty="0"/>
              <a:t> </a:t>
            </a:r>
            <a:r>
              <a:rPr lang="en-US" sz="2400" b="1" dirty="0"/>
              <a:t>CSS</a:t>
            </a:r>
            <a:r>
              <a:rPr lang="en-US" sz="2400" dirty="0"/>
              <a:t>, and </a:t>
            </a:r>
            <a:r>
              <a:rPr lang="en-US" sz="2400" b="1" dirty="0"/>
              <a:t>Redux</a:t>
            </a:r>
            <a:r>
              <a:rPr lang="en-US" sz="2400" dirty="0"/>
              <a:t>, while the backend leverages </a:t>
            </a:r>
            <a:r>
              <a:rPr lang="en-US" sz="2400" b="1" dirty="0"/>
              <a:t>Node</a:t>
            </a:r>
            <a:r>
              <a:rPr lang="en-US" sz="2400" dirty="0"/>
              <a:t>.</a:t>
            </a:r>
            <a:r>
              <a:rPr lang="en-US" sz="2400" b="1" dirty="0"/>
              <a:t>js</a:t>
            </a:r>
            <a:r>
              <a:rPr lang="en-US" sz="2400" dirty="0"/>
              <a:t>, </a:t>
            </a:r>
            <a:r>
              <a:rPr lang="en-US" sz="2400" b="1" dirty="0"/>
              <a:t>Express</a:t>
            </a:r>
            <a:r>
              <a:rPr lang="en-US" sz="2400" dirty="0"/>
              <a:t>.</a:t>
            </a:r>
            <a:r>
              <a:rPr lang="en-US" sz="2400" b="1" dirty="0"/>
              <a:t>js</a:t>
            </a:r>
            <a:r>
              <a:rPr lang="en-US" sz="2400" dirty="0"/>
              <a:t>, and </a:t>
            </a:r>
            <a:r>
              <a:rPr lang="en-US" sz="2400" b="1" dirty="0"/>
              <a:t>MongoDB</a:t>
            </a:r>
            <a:r>
              <a:rPr lang="en-US" sz="2400" dirty="0"/>
              <a:t>. With a strong focus on scalability, security, and user engagement, </a:t>
            </a:r>
            <a:r>
              <a:rPr lang="en-US" sz="2400" dirty="0" err="1"/>
              <a:t>StudyNotion</a:t>
            </a:r>
            <a:r>
              <a:rPr lang="en-US" sz="2400" dirty="0"/>
              <a:t> delivers an efficient and interactive environment for online education.</a:t>
            </a: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87258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9565C3D1-682C-62F6-A948-6C82C6A89A3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AA79F69E-FD87-FAC1-E447-FB341F4108C8}"/>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mj-lt"/>
                <a:sym typeface="Proxima Nova"/>
              </a:rPr>
              <a:t>Objective</a:t>
            </a:r>
            <a:endParaRPr sz="2400" b="1" dirty="0">
              <a:solidFill>
                <a:schemeClr val="accent1"/>
              </a:solidFill>
              <a:latin typeface="+mj-lt"/>
              <a:ea typeface="Proxima Nova"/>
              <a:cs typeface="Proxima Nova"/>
              <a:sym typeface="Proxima Nova"/>
            </a:endParaRPr>
          </a:p>
        </p:txBody>
      </p:sp>
      <p:sp>
        <p:nvSpPr>
          <p:cNvPr id="106" name="Google Shape;106;p4">
            <a:extLst>
              <a:ext uri="{FF2B5EF4-FFF2-40B4-BE49-F238E27FC236}">
                <a16:creationId xmlns:a16="http://schemas.microsoft.com/office/drawing/2014/main" id="{26130A29-9D49-21D3-F56E-0A8014852921}"/>
              </a:ext>
            </a:extLst>
          </p:cNvPr>
          <p:cNvSpPr txBox="1"/>
          <p:nvPr/>
        </p:nvSpPr>
        <p:spPr>
          <a:xfrm>
            <a:off x="534259" y="856387"/>
            <a:ext cx="11009414" cy="5586114"/>
          </a:xfrm>
          <a:prstGeom prst="rect">
            <a:avLst/>
          </a:prstGeom>
          <a:noFill/>
          <a:ln>
            <a:noFill/>
          </a:ln>
        </p:spPr>
        <p:txBody>
          <a:bodyPr spcFirstLastPara="1" wrap="square" lIns="91425" tIns="91425" rIns="91425" bIns="91425" anchor="t" anchorCtr="0">
            <a:spAutoFit/>
          </a:bodyPr>
          <a:lstStyle/>
          <a:p>
            <a:pPr marL="342900" indent="-34290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Develop a Cross-Platform Ed-Tech Platform</a:t>
            </a:r>
            <a:r>
              <a:rPr lang="en-US" sz="1800" b="1" dirty="0">
                <a:latin typeface="Times New Roman" panose="02020603050405020304" pitchFamily="18" charset="0"/>
                <a:ea typeface="Tahoma" panose="020B0604030504040204" pitchFamily="34"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Build a fully functional education platform using the MERN stack (MongoDB, Express.js, ReactJS, Node.js).</a:t>
            </a:r>
            <a:endParaRPr lang="en-US" sz="18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Enable Core Learning Features:</a:t>
            </a:r>
            <a:r>
              <a:rPr lang="en-US" sz="1800" dirty="0">
                <a:latin typeface="Times New Roman" panose="02020603050405020304" pitchFamily="18" charset="0"/>
                <a:cs typeface="Times New Roman" panose="02020603050405020304" pitchFamily="18" charset="0"/>
              </a:rPr>
              <a:t> </a:t>
            </a:r>
            <a:r>
              <a:rPr lang="en-US" sz="1800" dirty="0"/>
              <a:t>Allow students to create accounts, browse courses, enroll, consume content, and provide ratings, while instructors can create and manage courses.</a:t>
            </a:r>
          </a:p>
          <a:p>
            <a:pPr marL="342900" indent="-34290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Implement Secure Authentication &amp; Authorization:</a:t>
            </a:r>
            <a:r>
              <a:rPr lang="en-US" sz="1800" dirty="0">
                <a:latin typeface="Times New Roman" panose="02020603050405020304" pitchFamily="18" charset="0"/>
                <a:cs typeface="Times New Roman" panose="02020603050405020304" pitchFamily="18" charset="0"/>
              </a:rPr>
              <a:t> Provide safe access through user authentication and role-based authorization for students and instructors..</a:t>
            </a:r>
          </a:p>
          <a:p>
            <a:pPr marL="342900" indent="-34290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Integrate Payment System:</a:t>
            </a:r>
            <a:r>
              <a:rPr lang="en-US" sz="1800" dirty="0">
                <a:latin typeface="Times New Roman" panose="02020603050405020304" pitchFamily="18" charset="0"/>
                <a:cs typeface="Times New Roman" panose="02020603050405020304" pitchFamily="18" charset="0"/>
              </a:rPr>
              <a:t> Use </a:t>
            </a:r>
            <a:r>
              <a:rPr lang="en-US" sz="1800" dirty="0" err="1">
                <a:latin typeface="Times New Roman" panose="02020603050405020304" pitchFamily="18" charset="0"/>
                <a:cs typeface="Times New Roman" panose="02020603050405020304" pitchFamily="18" charset="0"/>
              </a:rPr>
              <a:t>Razorpay</a:t>
            </a:r>
            <a:r>
              <a:rPr lang="en-US" sz="1800" dirty="0">
                <a:latin typeface="Times New Roman" panose="02020603050405020304" pitchFamily="18" charset="0"/>
                <a:cs typeface="Times New Roman" panose="02020603050405020304" pitchFamily="18" charset="0"/>
              </a:rPr>
              <a:t> to enable seamless and secure course purchases.</a:t>
            </a:r>
          </a:p>
          <a:p>
            <a:pPr marL="342900" indent="-34290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Provide Responsive UI &amp; State Management:</a:t>
            </a:r>
            <a:r>
              <a:rPr lang="en-US" sz="1800" dirty="0">
                <a:latin typeface="Times New Roman" panose="02020603050405020304" pitchFamily="18" charset="0"/>
                <a:cs typeface="Times New Roman" panose="02020603050405020304" pitchFamily="18" charset="0"/>
              </a:rPr>
              <a:t> Deliver a clean, user-friendly interface with smooth navigation, built using ReactJS, Tailwind CSS, and Redux.</a:t>
            </a:r>
          </a:p>
          <a:p>
            <a:pPr marL="342900" indent="-34290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Ensure Scalability &amp; Modular Design:</a:t>
            </a:r>
            <a:r>
              <a:rPr lang="en-US" sz="1800" dirty="0">
                <a:latin typeface="Times New Roman" panose="02020603050405020304" pitchFamily="18" charset="0"/>
                <a:cs typeface="Times New Roman" panose="02020603050405020304" pitchFamily="18" charset="0"/>
              </a:rPr>
              <a:t> Develop with reusable components, structured APIs, and modular code to support future enhancements.</a:t>
            </a:r>
          </a:p>
          <a:p>
            <a:pPr marL="342900" indent="-34290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Deliver Engaging User Experience (UX):</a:t>
            </a:r>
            <a:r>
              <a:rPr lang="en-US" sz="1800" dirty="0">
                <a:latin typeface="Times New Roman" panose="02020603050405020304" pitchFamily="18" charset="0"/>
                <a:cs typeface="Times New Roman" panose="02020603050405020304" pitchFamily="18" charset="0"/>
              </a:rPr>
              <a:t> Focus on interactivity, accessibility, and performance to create a dynamic and effective online learning environment.</a:t>
            </a:r>
            <a:endParaRPr lang="en-US"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17361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1C9136AF-4B2C-D70C-1DE9-5D9EBAD85C89}"/>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6514BC3-7AAC-D87D-1916-26392DCF1061}"/>
              </a:ext>
            </a:extLst>
          </p:cNvPr>
          <p:cNvSpPr txBox="1">
            <a:spLocks noGrp="1"/>
          </p:cNvSpPr>
          <p:nvPr>
            <p:ph type="title"/>
          </p:nvPr>
        </p:nvSpPr>
        <p:spPr>
          <a:xfrm>
            <a:off x="566917" y="516390"/>
            <a:ext cx="4309884" cy="382156"/>
          </a:xfrm>
          <a:prstGeom prst="rect">
            <a:avLst/>
          </a:prstGeom>
          <a:noFill/>
          <a:ln>
            <a:noFill/>
          </a:ln>
        </p:spPr>
        <p:txBody>
          <a:bodyPr spcFirstLastPara="1" wrap="square" lIns="0" tIns="12700" rIns="0" bIns="0" anchor="ctr" anchorCtr="0">
            <a:spAutoFit/>
          </a:bodyPr>
          <a:lstStyle/>
          <a:p>
            <a:pPr marL="12700">
              <a:lnSpc>
                <a:spcPct val="100000"/>
              </a:lnSpc>
              <a:buClr>
                <a:srgbClr val="04A2B9"/>
              </a:buClr>
              <a:buSzPts val="2400"/>
            </a:pPr>
            <a:r>
              <a:rPr lang="en-IN" sz="2400" b="1" dirty="0">
                <a:solidFill>
                  <a:srgbClr val="04A2B9"/>
                </a:solidFill>
                <a:latin typeface="+mj-lt"/>
                <a:cs typeface="Times New Roman" panose="02020603050405020304" pitchFamily="18" charset="0"/>
              </a:rPr>
              <a:t>Problem Statement </a:t>
            </a:r>
            <a:endParaRPr sz="2400" b="1" dirty="0">
              <a:solidFill>
                <a:srgbClr val="04A2B9"/>
              </a:solidFill>
              <a:latin typeface="+mj-lt"/>
              <a:ea typeface="Proxima Nova"/>
              <a:cs typeface="Proxima Nova"/>
              <a:sym typeface="Proxima Nova"/>
            </a:endParaRPr>
          </a:p>
        </p:txBody>
      </p:sp>
      <p:sp>
        <p:nvSpPr>
          <p:cNvPr id="106" name="Google Shape;106;p4">
            <a:extLst>
              <a:ext uri="{FF2B5EF4-FFF2-40B4-BE49-F238E27FC236}">
                <a16:creationId xmlns:a16="http://schemas.microsoft.com/office/drawing/2014/main" id="{E9808AB6-6F7B-18EA-1927-DC3F7453FB43}"/>
              </a:ext>
            </a:extLst>
          </p:cNvPr>
          <p:cNvSpPr txBox="1"/>
          <p:nvPr/>
        </p:nvSpPr>
        <p:spPr>
          <a:xfrm>
            <a:off x="566917" y="2243861"/>
            <a:ext cx="10046155" cy="3924121"/>
          </a:xfrm>
          <a:prstGeom prst="rect">
            <a:avLst/>
          </a:prstGeom>
          <a:noFill/>
          <a:ln>
            <a:noFill/>
          </a:ln>
        </p:spPr>
        <p:txBody>
          <a:bodyPr spcFirstLastPara="1" wrap="square" lIns="91425" tIns="91425" rIns="91425" bIns="91425" anchor="t" anchorCtr="0">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growing demand for effective and engaging online learning platforms highlights the limitations of many existing ed-tech solutions, which often face challenges such as limited interactivity, scalability issues, and inconsistent user experiences across devices. There is a need for a modern, scalable solution that supports real-time course interactions, secure authentication, and seamless media handling while providing a consistent user experience. This project, </a:t>
            </a:r>
            <a:r>
              <a:rPr lang="en-US" sz="1800" b="1" dirty="0" err="1">
                <a:latin typeface="Times New Roman" panose="02020603050405020304" pitchFamily="18" charset="0"/>
                <a:cs typeface="Times New Roman" panose="02020603050405020304" pitchFamily="18" charset="0"/>
              </a:rPr>
              <a:t>StudyNotion</a:t>
            </a:r>
            <a:r>
              <a:rPr lang="en-US" sz="1800" dirty="0">
                <a:latin typeface="Times New Roman" panose="02020603050405020304" pitchFamily="18" charset="0"/>
                <a:cs typeface="Times New Roman" panose="02020603050405020304" pitchFamily="18" charset="0"/>
              </a:rPr>
              <a:t>, aims to address these challenges by developing a cross-platform ed-tech platform using the MERN stack, offering features such as course creation, consumption, and rating, along with secure payments, cloud-based media management, and a responsive user-friendly interface to deliver an interactive and reliable learning environment for both students and instructors.</a:t>
            </a:r>
          </a:p>
        </p:txBody>
      </p:sp>
    </p:spTree>
    <p:extLst>
      <p:ext uri="{BB962C8B-B14F-4D97-AF65-F5344CB8AC3E}">
        <p14:creationId xmlns:p14="http://schemas.microsoft.com/office/powerpoint/2010/main" val="4292634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EF11736A-5E03-6A38-434F-C9B51B8654C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5834A0B1-E76D-A627-C83D-7BAC75DCEB2A}"/>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400" b="1" dirty="0">
                <a:solidFill>
                  <a:srgbClr val="04A2B9"/>
                </a:solidFill>
                <a:latin typeface="Times New Roman" panose="02020603050405020304" pitchFamily="18" charset="0"/>
                <a:cs typeface="Times New Roman" panose="02020603050405020304" pitchFamily="18" charset="0"/>
              </a:rPr>
              <a:t>Activity Diagram</a:t>
            </a:r>
            <a:endParaRPr sz="2400" b="1" dirty="0">
              <a:solidFill>
                <a:srgbClr val="04A2B9"/>
              </a:solidFill>
              <a:latin typeface="+mj-lt"/>
              <a:ea typeface="Proxima Nova"/>
              <a:cs typeface="Proxima Nova"/>
              <a:sym typeface="Proxima Nova"/>
            </a:endParaRPr>
          </a:p>
        </p:txBody>
      </p:sp>
      <p:sp>
        <p:nvSpPr>
          <p:cNvPr id="2" name="TextBox 1">
            <a:extLst>
              <a:ext uri="{FF2B5EF4-FFF2-40B4-BE49-F238E27FC236}">
                <a16:creationId xmlns:a16="http://schemas.microsoft.com/office/drawing/2014/main" id="{0DF0CB4F-7A44-6035-4730-7BC2F926559A}"/>
              </a:ext>
            </a:extLst>
          </p:cNvPr>
          <p:cNvSpPr txBox="1"/>
          <p:nvPr/>
        </p:nvSpPr>
        <p:spPr>
          <a:xfrm>
            <a:off x="5600523" y="6270172"/>
            <a:ext cx="914400" cy="307777"/>
          </a:xfrm>
          <a:prstGeom prst="rect">
            <a:avLst/>
          </a:prstGeom>
          <a:noFill/>
        </p:spPr>
        <p:txBody>
          <a:bodyPr wrap="square" rtlCol="0">
            <a:spAutoFit/>
          </a:bodyPr>
          <a:lstStyle/>
          <a:p>
            <a:r>
              <a:rPr lang="en-US" dirty="0"/>
              <a:t>Fig :- 1.1</a:t>
            </a:r>
            <a:endParaRPr lang="en-IN" dirty="0"/>
          </a:p>
        </p:txBody>
      </p:sp>
      <p:pic>
        <p:nvPicPr>
          <p:cNvPr id="7" name="Picture 6">
            <a:extLst>
              <a:ext uri="{FF2B5EF4-FFF2-40B4-BE49-F238E27FC236}">
                <a16:creationId xmlns:a16="http://schemas.microsoft.com/office/drawing/2014/main" id="{A95C7446-F2C8-4942-86F4-6EAFE63E5ADA}"/>
              </a:ext>
            </a:extLst>
          </p:cNvPr>
          <p:cNvPicPr>
            <a:picLocks noChangeAspect="1"/>
          </p:cNvPicPr>
          <p:nvPr/>
        </p:nvPicPr>
        <p:blipFill>
          <a:blip r:embed="rId4"/>
          <a:stretch>
            <a:fillRect/>
          </a:stretch>
        </p:blipFill>
        <p:spPr>
          <a:xfrm>
            <a:off x="3810000" y="1012372"/>
            <a:ext cx="4572000" cy="5565578"/>
          </a:xfrm>
          <a:prstGeom prst="rect">
            <a:avLst/>
          </a:prstGeom>
        </p:spPr>
      </p:pic>
    </p:spTree>
    <p:extLst>
      <p:ext uri="{BB962C8B-B14F-4D97-AF65-F5344CB8AC3E}">
        <p14:creationId xmlns:p14="http://schemas.microsoft.com/office/powerpoint/2010/main" val="4071637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EF11736A-5E03-6A38-434F-C9B51B8654C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5834A0B1-E76D-A627-C83D-7BAC75DCEB2A}"/>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400" b="1" dirty="0">
                <a:solidFill>
                  <a:srgbClr val="04A2B9"/>
                </a:solidFill>
                <a:latin typeface="Times New Roman" panose="02020603050405020304" pitchFamily="18" charset="0"/>
                <a:cs typeface="Times New Roman" panose="02020603050405020304" pitchFamily="18" charset="0"/>
              </a:rPr>
              <a:t>ER-</a:t>
            </a:r>
            <a:r>
              <a:rPr lang="en-IN" sz="2400" b="1" dirty="0" err="1">
                <a:solidFill>
                  <a:srgbClr val="04A2B9"/>
                </a:solidFill>
                <a:latin typeface="Times New Roman" panose="02020603050405020304" pitchFamily="18" charset="0"/>
                <a:cs typeface="Times New Roman" panose="02020603050405020304" pitchFamily="18" charset="0"/>
              </a:rPr>
              <a:t>Diaagram</a:t>
            </a:r>
            <a:endParaRPr sz="2400" b="1" dirty="0">
              <a:solidFill>
                <a:srgbClr val="04A2B9"/>
              </a:solidFill>
              <a:latin typeface="+mj-lt"/>
              <a:ea typeface="Proxima Nova"/>
              <a:cs typeface="Proxima Nova"/>
              <a:sym typeface="Proxima Nova"/>
            </a:endParaRPr>
          </a:p>
        </p:txBody>
      </p:sp>
      <p:sp>
        <p:nvSpPr>
          <p:cNvPr id="2" name="TextBox 1">
            <a:extLst>
              <a:ext uri="{FF2B5EF4-FFF2-40B4-BE49-F238E27FC236}">
                <a16:creationId xmlns:a16="http://schemas.microsoft.com/office/drawing/2014/main" id="{0DF0CB4F-7A44-6035-4730-7BC2F926559A}"/>
              </a:ext>
            </a:extLst>
          </p:cNvPr>
          <p:cNvSpPr txBox="1"/>
          <p:nvPr/>
        </p:nvSpPr>
        <p:spPr>
          <a:xfrm>
            <a:off x="5600523" y="6270172"/>
            <a:ext cx="914400" cy="307777"/>
          </a:xfrm>
          <a:prstGeom prst="rect">
            <a:avLst/>
          </a:prstGeom>
          <a:noFill/>
        </p:spPr>
        <p:txBody>
          <a:bodyPr wrap="square" rtlCol="0">
            <a:spAutoFit/>
          </a:bodyPr>
          <a:lstStyle/>
          <a:p>
            <a:r>
              <a:rPr lang="en-US" dirty="0"/>
              <a:t>Fig :- 1.1</a:t>
            </a:r>
            <a:endParaRPr lang="en-IN" dirty="0"/>
          </a:p>
        </p:txBody>
      </p:sp>
      <p:pic>
        <p:nvPicPr>
          <p:cNvPr id="5" name="Picture 4">
            <a:extLst>
              <a:ext uri="{FF2B5EF4-FFF2-40B4-BE49-F238E27FC236}">
                <a16:creationId xmlns:a16="http://schemas.microsoft.com/office/drawing/2014/main" id="{309CF9C1-CCD6-41F5-AA89-A52B96E8FAF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2496728" y="1143000"/>
            <a:ext cx="7512685" cy="4974590"/>
          </a:xfrm>
          <a:prstGeom prst="rect">
            <a:avLst/>
          </a:prstGeom>
          <a:noFill/>
          <a:ln>
            <a:noFill/>
          </a:ln>
        </p:spPr>
      </p:pic>
    </p:spTree>
    <p:extLst>
      <p:ext uri="{BB962C8B-B14F-4D97-AF65-F5344CB8AC3E}">
        <p14:creationId xmlns:p14="http://schemas.microsoft.com/office/powerpoint/2010/main" val="2841878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ED2EDBEC-BE52-A913-549D-3D71B0BED2F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BF94882F-A4C1-625C-631B-AD1216769EF0}"/>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400" b="1" dirty="0">
                <a:solidFill>
                  <a:srgbClr val="04A2B9"/>
                </a:solidFill>
                <a:latin typeface="Times New Roman" panose="02020603050405020304" pitchFamily="18" charset="0"/>
                <a:cs typeface="Times New Roman" panose="02020603050405020304" pitchFamily="18" charset="0"/>
              </a:rPr>
              <a:t>ER-Diagram</a:t>
            </a:r>
            <a:endParaRPr sz="2400" b="1" dirty="0">
              <a:solidFill>
                <a:srgbClr val="04A2B9"/>
              </a:solidFill>
              <a:latin typeface="+mj-lt"/>
              <a:ea typeface="Proxima Nova"/>
              <a:cs typeface="Proxima Nova"/>
              <a:sym typeface="Proxima Nova"/>
            </a:endParaRPr>
          </a:p>
        </p:txBody>
      </p:sp>
      <p:sp>
        <p:nvSpPr>
          <p:cNvPr id="4" name="TextBox 3">
            <a:extLst>
              <a:ext uri="{FF2B5EF4-FFF2-40B4-BE49-F238E27FC236}">
                <a16:creationId xmlns:a16="http://schemas.microsoft.com/office/drawing/2014/main" id="{089241B0-55FC-F4B4-8A5F-4A456B1AC66A}"/>
              </a:ext>
            </a:extLst>
          </p:cNvPr>
          <p:cNvSpPr txBox="1"/>
          <p:nvPr/>
        </p:nvSpPr>
        <p:spPr>
          <a:xfrm>
            <a:off x="5589506" y="6270172"/>
            <a:ext cx="914400" cy="307777"/>
          </a:xfrm>
          <a:prstGeom prst="rect">
            <a:avLst/>
          </a:prstGeom>
          <a:noFill/>
        </p:spPr>
        <p:txBody>
          <a:bodyPr wrap="square" rtlCol="0">
            <a:spAutoFit/>
          </a:bodyPr>
          <a:lstStyle/>
          <a:p>
            <a:r>
              <a:rPr lang="en-US" dirty="0"/>
              <a:t>Fig :- 1.2</a:t>
            </a:r>
            <a:endParaRPr lang="en-IN" dirty="0"/>
          </a:p>
        </p:txBody>
      </p:sp>
      <p:pic>
        <p:nvPicPr>
          <p:cNvPr id="10" name="Picture 9">
            <a:extLst>
              <a:ext uri="{FF2B5EF4-FFF2-40B4-BE49-F238E27FC236}">
                <a16:creationId xmlns:a16="http://schemas.microsoft.com/office/drawing/2014/main" id="{AB701CAD-424F-40ED-9CED-CF88864D94DB}"/>
              </a:ext>
            </a:extLst>
          </p:cNvPr>
          <p:cNvPicPr>
            <a:picLocks noChangeAspect="1"/>
          </p:cNvPicPr>
          <p:nvPr/>
        </p:nvPicPr>
        <p:blipFill>
          <a:blip r:embed="rId4"/>
          <a:stretch>
            <a:fillRect/>
          </a:stretch>
        </p:blipFill>
        <p:spPr>
          <a:xfrm>
            <a:off x="232544" y="251969"/>
            <a:ext cx="11726912" cy="6354062"/>
          </a:xfrm>
          <a:prstGeom prst="rect">
            <a:avLst/>
          </a:prstGeom>
        </p:spPr>
      </p:pic>
    </p:spTree>
    <p:extLst>
      <p:ext uri="{BB962C8B-B14F-4D97-AF65-F5344CB8AC3E}">
        <p14:creationId xmlns:p14="http://schemas.microsoft.com/office/powerpoint/2010/main" val="4050298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ED2EDBEC-BE52-A913-549D-3D71B0BED2F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BF94882F-A4C1-625C-631B-AD1216769EF0}"/>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400" b="1" dirty="0">
                <a:solidFill>
                  <a:srgbClr val="04A2B9"/>
                </a:solidFill>
                <a:latin typeface="Times New Roman" panose="02020603050405020304" pitchFamily="18" charset="0"/>
                <a:cs typeface="Times New Roman" panose="02020603050405020304" pitchFamily="18" charset="0"/>
              </a:rPr>
              <a:t>ER-Diagram</a:t>
            </a:r>
            <a:endParaRPr sz="2400" b="1" dirty="0">
              <a:solidFill>
                <a:srgbClr val="04A2B9"/>
              </a:solidFill>
              <a:latin typeface="+mj-lt"/>
              <a:ea typeface="Proxima Nova"/>
              <a:cs typeface="Proxima Nova"/>
              <a:sym typeface="Proxima Nova"/>
            </a:endParaRPr>
          </a:p>
        </p:txBody>
      </p:sp>
      <p:pic>
        <p:nvPicPr>
          <p:cNvPr id="5" name="Picture 4">
            <a:extLst>
              <a:ext uri="{FF2B5EF4-FFF2-40B4-BE49-F238E27FC236}">
                <a16:creationId xmlns:a16="http://schemas.microsoft.com/office/drawing/2014/main" id="{6E813883-D826-40B9-903D-801B70F5B9A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259" y="1306285"/>
            <a:ext cx="10781441" cy="4163785"/>
          </a:xfrm>
          <a:prstGeom prst="rect">
            <a:avLst/>
          </a:prstGeom>
          <a:noFill/>
          <a:ln>
            <a:noFill/>
          </a:ln>
        </p:spPr>
      </p:pic>
    </p:spTree>
    <p:extLst>
      <p:ext uri="{BB962C8B-B14F-4D97-AF65-F5344CB8AC3E}">
        <p14:creationId xmlns:p14="http://schemas.microsoft.com/office/powerpoint/2010/main" val="3334745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ED2EDBEC-BE52-A913-549D-3D71B0BED2F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BF94882F-A4C1-625C-631B-AD1216769EF0}"/>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400" b="1" dirty="0">
                <a:solidFill>
                  <a:srgbClr val="04A2B9"/>
                </a:solidFill>
                <a:latin typeface="Times New Roman" panose="02020603050405020304" pitchFamily="18" charset="0"/>
                <a:cs typeface="Times New Roman" panose="02020603050405020304" pitchFamily="18" charset="0"/>
              </a:rPr>
              <a:t>ER-</a:t>
            </a:r>
            <a:r>
              <a:rPr lang="en-IN" sz="2400" b="1" dirty="0" err="1">
                <a:solidFill>
                  <a:srgbClr val="04A2B9"/>
                </a:solidFill>
                <a:latin typeface="Times New Roman" panose="02020603050405020304" pitchFamily="18" charset="0"/>
                <a:cs typeface="Times New Roman" panose="02020603050405020304" pitchFamily="18" charset="0"/>
              </a:rPr>
              <a:t>Diaagram</a:t>
            </a:r>
            <a:endParaRPr sz="2400" b="1" dirty="0">
              <a:solidFill>
                <a:srgbClr val="04A2B9"/>
              </a:solidFill>
              <a:latin typeface="+mj-lt"/>
              <a:ea typeface="Proxima Nova"/>
              <a:cs typeface="Proxima Nova"/>
              <a:sym typeface="Proxima Nova"/>
            </a:endParaRPr>
          </a:p>
        </p:txBody>
      </p:sp>
      <p:sp>
        <p:nvSpPr>
          <p:cNvPr id="6" name="TextBox 5">
            <a:extLst>
              <a:ext uri="{FF2B5EF4-FFF2-40B4-BE49-F238E27FC236}">
                <a16:creationId xmlns:a16="http://schemas.microsoft.com/office/drawing/2014/main" id="{64BECA9A-8E44-4D97-82A9-C6F3A7DE7EBA}"/>
              </a:ext>
            </a:extLst>
          </p:cNvPr>
          <p:cNvSpPr txBox="1"/>
          <p:nvPr/>
        </p:nvSpPr>
        <p:spPr>
          <a:xfrm>
            <a:off x="832757" y="1124203"/>
            <a:ext cx="10858500" cy="3499997"/>
          </a:xfrm>
          <a:prstGeom prst="rect">
            <a:avLst/>
          </a:prstGeom>
          <a:noFill/>
        </p:spPr>
        <p:txBody>
          <a:bodyPr wrap="square">
            <a:spAutoFit/>
          </a:bodyPr>
          <a:lstStyle/>
          <a:p>
            <a:pPr algn="just"/>
            <a:r>
              <a:rPr lang="en-IN" sz="1400" b="1" dirty="0">
                <a:solidFill>
                  <a:srgbClr val="000000"/>
                </a:solidFill>
                <a:effectLst/>
                <a:latin typeface="Times New Roman" panose="02020603050405020304" pitchFamily="18" charset="0"/>
                <a:ea typeface="Times New Roman" panose="02020603050405020304" pitchFamily="18" charset="0"/>
              </a:rPr>
              <a:t>Sample list of API endpoints and their functionalities:</a:t>
            </a:r>
            <a:endParaRPr lang="en-IN" sz="1400" dirty="0">
              <a:effectLst/>
              <a:latin typeface="Times New Roman" panose="02020603050405020304" pitchFamily="18" charset="0"/>
              <a:ea typeface="Times New Roman" panose="02020603050405020304" pitchFamily="18" charset="0"/>
            </a:endParaRPr>
          </a:p>
          <a:p>
            <a:pPr marL="104140" indent="-6350" algn="just">
              <a:lnSpc>
                <a:spcPct val="103000"/>
              </a:lnSpc>
              <a:spcBef>
                <a:spcPts val="600"/>
              </a:spcBef>
              <a:spcAft>
                <a:spcPts val="145"/>
              </a:spcAft>
            </a:pPr>
            <a:r>
              <a:rPr lang="en-IN" sz="1400" dirty="0">
                <a:solidFill>
                  <a:srgbClr val="000000"/>
                </a:solidFill>
                <a:effectLst/>
                <a:latin typeface="Times New Roman" panose="02020603050405020304" pitchFamily="18" charset="0"/>
                <a:ea typeface="Times New Roman" panose="02020603050405020304" pitchFamily="18" charset="0"/>
              </a:rPr>
              <a:t>The </a:t>
            </a:r>
            <a:r>
              <a:rPr lang="en-IN" sz="1400" dirty="0" err="1">
                <a:solidFill>
                  <a:srgbClr val="000000"/>
                </a:solidFill>
                <a:effectLst/>
                <a:latin typeface="Times New Roman" panose="02020603050405020304" pitchFamily="18" charset="0"/>
                <a:ea typeface="Times New Roman" panose="02020603050405020304" pitchFamily="18" charset="0"/>
              </a:rPr>
              <a:t>StudyNotion</a:t>
            </a:r>
            <a:r>
              <a:rPr lang="en-IN" sz="1400" dirty="0">
                <a:solidFill>
                  <a:srgbClr val="000000"/>
                </a:solidFill>
                <a:effectLst/>
                <a:latin typeface="Times New Roman" panose="02020603050405020304" pitchFamily="18" charset="0"/>
                <a:ea typeface="Times New Roman" panose="02020603050405020304" pitchFamily="18" charset="0"/>
              </a:rPr>
              <a:t> platform's API is designed following the REST architectural style. The API is implemented using Node.js and Express.js. It uses JSON for data exchange and follows standard HTTP request methods such as GET, POST, PUT, and DELETE.</a:t>
            </a:r>
          </a:p>
          <a:p>
            <a:pPr marL="104140" indent="-6350" algn="just">
              <a:lnSpc>
                <a:spcPct val="103000"/>
              </a:lnSpc>
              <a:spcBef>
                <a:spcPts val="200"/>
              </a:spcBef>
              <a:spcAft>
                <a:spcPts val="145"/>
              </a:spcAft>
            </a:pPr>
            <a:r>
              <a:rPr lang="en-IN" sz="1400" dirty="0">
                <a:solidFill>
                  <a:srgbClr val="000000"/>
                </a:solidFill>
                <a:effectLst/>
                <a:latin typeface="Times New Roman" panose="02020603050405020304" pitchFamily="18" charset="0"/>
                <a:ea typeface="Times New Roman" panose="02020603050405020304" pitchFamily="18" charset="0"/>
              </a:rPr>
              <a:t>Sample list of API endpoints and their functionalities:</a:t>
            </a:r>
          </a:p>
          <a:p>
            <a:pPr marL="342900" lvl="0" indent="-342900" algn="just" fontAlgn="base">
              <a:lnSpc>
                <a:spcPct val="103000"/>
              </a:lnSpc>
              <a:spcBef>
                <a:spcPts val="600"/>
              </a:spcBef>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/auth/signup (POST) - Create a new user (student or instructor) account.</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/auth/login (POST) – Log in using existing credentials and generate a JWT token.</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/auth/verify-</a:t>
            </a:r>
            <a:r>
              <a:rPr lang="en-IN" sz="1400" dirty="0" err="1">
                <a:solidFill>
                  <a:srgbClr val="000000"/>
                </a:solidFill>
                <a:effectLst/>
                <a:latin typeface="Times New Roman" panose="02020603050405020304" pitchFamily="18" charset="0"/>
                <a:ea typeface="Times New Roman" panose="02020603050405020304" pitchFamily="18" charset="0"/>
              </a:rPr>
              <a:t>otp</a:t>
            </a:r>
            <a:r>
              <a:rPr lang="en-IN" sz="1400" dirty="0">
                <a:solidFill>
                  <a:srgbClr val="000000"/>
                </a:solidFill>
                <a:effectLst/>
                <a:latin typeface="Times New Roman" panose="02020603050405020304" pitchFamily="18" charset="0"/>
                <a:ea typeface="Times New Roman" panose="02020603050405020304" pitchFamily="18" charset="0"/>
              </a:rPr>
              <a:t> (POST) - Verify the OTP sent to the user's registered email.</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/auth/forgot-password (POST) - Send an email with a password reset link to the registered email.</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/courses (GET) - Get a list of all available courses.</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/courses/:id (GET) - Get details of a specific course by ID.</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/courses (POST) - Create a new course.</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/courses/:id (PUT) - Update an existing course by ID.</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/courses/:id (DELETE) - Delete a course by ID.</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/courses/:id/rate (POST) - Add a rating (out of 5) to a course.</a:t>
            </a:r>
          </a:p>
        </p:txBody>
      </p:sp>
    </p:spTree>
    <p:extLst>
      <p:ext uri="{BB962C8B-B14F-4D97-AF65-F5344CB8AC3E}">
        <p14:creationId xmlns:p14="http://schemas.microsoft.com/office/powerpoint/2010/main" val="893147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ED2EDBEC-BE52-A913-549D-3D71B0BED2F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BF94882F-A4C1-625C-631B-AD1216769EF0}"/>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400" b="1" dirty="0">
                <a:solidFill>
                  <a:srgbClr val="04A2B9"/>
                </a:solidFill>
                <a:latin typeface="Times New Roman" panose="02020603050405020304" pitchFamily="18" charset="0"/>
                <a:cs typeface="Times New Roman" panose="02020603050405020304" pitchFamily="18" charset="0"/>
              </a:rPr>
              <a:t>ER-</a:t>
            </a:r>
            <a:r>
              <a:rPr lang="en-IN" sz="2400" b="1" dirty="0" err="1">
                <a:solidFill>
                  <a:srgbClr val="04A2B9"/>
                </a:solidFill>
                <a:latin typeface="Times New Roman" panose="02020603050405020304" pitchFamily="18" charset="0"/>
                <a:cs typeface="Times New Roman" panose="02020603050405020304" pitchFamily="18" charset="0"/>
              </a:rPr>
              <a:t>Diaagram</a:t>
            </a:r>
            <a:endParaRPr sz="2400" b="1" dirty="0">
              <a:solidFill>
                <a:srgbClr val="04A2B9"/>
              </a:solidFill>
              <a:latin typeface="+mj-lt"/>
              <a:ea typeface="Proxima Nova"/>
              <a:cs typeface="Proxima Nova"/>
              <a:sym typeface="Proxima Nova"/>
            </a:endParaRPr>
          </a:p>
        </p:txBody>
      </p:sp>
      <p:sp>
        <p:nvSpPr>
          <p:cNvPr id="6" name="TextBox 5">
            <a:extLst>
              <a:ext uri="{FF2B5EF4-FFF2-40B4-BE49-F238E27FC236}">
                <a16:creationId xmlns:a16="http://schemas.microsoft.com/office/drawing/2014/main" id="{64BECA9A-8E44-4D97-82A9-C6F3A7DE7EBA}"/>
              </a:ext>
            </a:extLst>
          </p:cNvPr>
          <p:cNvSpPr txBox="1"/>
          <p:nvPr/>
        </p:nvSpPr>
        <p:spPr>
          <a:xfrm>
            <a:off x="832757" y="1124203"/>
            <a:ext cx="10858500" cy="3132332"/>
          </a:xfrm>
          <a:prstGeom prst="rect">
            <a:avLst/>
          </a:prstGeom>
          <a:noFill/>
        </p:spPr>
        <p:txBody>
          <a:bodyPr wrap="square">
            <a:spAutoFit/>
          </a:bodyPr>
          <a:lstStyle/>
          <a:p>
            <a:pPr marL="104140" indent="-6350" algn="just">
              <a:lnSpc>
                <a:spcPct val="103000"/>
              </a:lnSpc>
              <a:spcBef>
                <a:spcPts val="200"/>
              </a:spcBef>
              <a:spcAft>
                <a:spcPts val="145"/>
              </a:spcAft>
            </a:pPr>
            <a:r>
              <a:rPr lang="en-IN" sz="1200" dirty="0">
                <a:solidFill>
                  <a:srgbClr val="000000"/>
                </a:solidFill>
                <a:effectLst/>
                <a:latin typeface="Times New Roman" panose="02020603050405020304" pitchFamily="18" charset="0"/>
                <a:ea typeface="Times New Roman" panose="02020603050405020304" pitchFamily="18" charset="0"/>
              </a:rPr>
              <a:t>Sample API requests and responses:</a:t>
            </a:r>
          </a:p>
          <a:p>
            <a:pPr marL="342900" lvl="0" indent="-342900" algn="just" fontAlgn="base">
              <a:lnSpc>
                <a:spcPct val="103000"/>
              </a:lnSpc>
              <a:spcBef>
                <a:spcPts val="600"/>
              </a:spcBef>
              <a:spcAft>
                <a:spcPts val="145"/>
              </a:spcAft>
              <a:buFont typeface="+mj-lt"/>
              <a:buAutoNum type="arabicPeriod"/>
              <a:tabLst>
                <a:tab pos="457200" algn="l"/>
              </a:tabLst>
            </a:pPr>
            <a:r>
              <a:rPr lang="en-IN" sz="1200" dirty="0">
                <a:solidFill>
                  <a:srgbClr val="000000"/>
                </a:solidFill>
                <a:effectLst/>
                <a:latin typeface="Times New Roman" panose="02020603050405020304" pitchFamily="18" charset="0"/>
                <a:ea typeface="Times New Roman" panose="02020603050405020304" pitchFamily="18" charset="0"/>
              </a:rPr>
              <a:t>GET /</a:t>
            </a:r>
            <a:r>
              <a:rPr lang="en-IN" sz="1200" dirty="0" err="1">
                <a:solidFill>
                  <a:srgbClr val="000000"/>
                </a:solidFill>
                <a:effectLst/>
                <a:latin typeface="Times New Roman" panose="02020603050405020304" pitchFamily="18" charset="0"/>
                <a:ea typeface="Times New Roman" panose="02020603050405020304" pitchFamily="18" charset="0"/>
              </a:rPr>
              <a:t>api</a:t>
            </a:r>
            <a:r>
              <a:rPr lang="en-IN" sz="1200" dirty="0">
                <a:solidFill>
                  <a:srgbClr val="000000"/>
                </a:solidFill>
                <a:effectLst/>
                <a:latin typeface="Times New Roman" panose="02020603050405020304" pitchFamily="18" charset="0"/>
                <a:ea typeface="Times New Roman" panose="02020603050405020304" pitchFamily="18" charset="0"/>
              </a:rPr>
              <a:t>/courses: Get all courses</a:t>
            </a:r>
          </a:p>
          <a:p>
            <a:pPr marL="742950" lvl="1" indent="-285750" algn="just" fontAlgn="base">
              <a:lnSpc>
                <a:spcPct val="103000"/>
              </a:lnSpc>
              <a:spcAft>
                <a:spcPts val="145"/>
              </a:spcAft>
              <a:buSzPts val="1000"/>
              <a:buFont typeface="Courier New" panose="02070309020205020404" pitchFamily="49" charset="0"/>
              <a:buChar char="o"/>
              <a:tabLst>
                <a:tab pos="914400" algn="l"/>
              </a:tabLs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Response: A list of all courses in the database</a:t>
            </a:r>
          </a:p>
          <a:p>
            <a:pPr marL="342900" lvl="0" indent="-342900" algn="just" fontAlgn="base">
              <a:lnSpc>
                <a:spcPct val="103000"/>
              </a:lnSpc>
              <a:spcAft>
                <a:spcPts val="145"/>
              </a:spcAft>
              <a:buFont typeface="+mj-lt"/>
              <a:buAutoNum type="arabicPeriod"/>
              <a:tabLst>
                <a:tab pos="457200" algn="l"/>
              </a:tabLst>
            </a:pPr>
            <a:r>
              <a:rPr lang="en-IN" sz="1200" dirty="0">
                <a:solidFill>
                  <a:srgbClr val="000000"/>
                </a:solidFill>
                <a:effectLst/>
                <a:latin typeface="Times New Roman" panose="02020603050405020304" pitchFamily="18" charset="0"/>
                <a:ea typeface="Times New Roman" panose="02020603050405020304" pitchFamily="18" charset="0"/>
              </a:rPr>
              <a:t>GET /</a:t>
            </a:r>
            <a:r>
              <a:rPr lang="en-IN" sz="1200" dirty="0" err="1">
                <a:solidFill>
                  <a:srgbClr val="000000"/>
                </a:solidFill>
                <a:effectLst/>
                <a:latin typeface="Times New Roman" panose="02020603050405020304" pitchFamily="18" charset="0"/>
                <a:ea typeface="Times New Roman" panose="02020603050405020304" pitchFamily="18" charset="0"/>
              </a:rPr>
              <a:t>api</a:t>
            </a:r>
            <a:r>
              <a:rPr lang="en-IN" sz="1200" dirty="0">
                <a:solidFill>
                  <a:srgbClr val="000000"/>
                </a:solidFill>
                <a:effectLst/>
                <a:latin typeface="Times New Roman" panose="02020603050405020304" pitchFamily="18" charset="0"/>
                <a:ea typeface="Times New Roman" panose="02020603050405020304" pitchFamily="18" charset="0"/>
              </a:rPr>
              <a:t>/courses/:id: Get a single course by ID</a:t>
            </a:r>
          </a:p>
          <a:p>
            <a:pPr marL="742950" lvl="1" indent="-285750" algn="just" fontAlgn="base">
              <a:lnSpc>
                <a:spcPct val="103000"/>
              </a:lnSpc>
              <a:spcAft>
                <a:spcPts val="145"/>
              </a:spcAft>
              <a:buSzPts val="1000"/>
              <a:buFont typeface="Courier New" panose="02070309020205020404" pitchFamily="49" charset="0"/>
              <a:buChar char="o"/>
              <a:tabLst>
                <a:tab pos="914400" algn="l"/>
              </a:tabLs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Response: The course with the specified ID</a:t>
            </a:r>
          </a:p>
          <a:p>
            <a:pPr marL="342900" lvl="0" indent="-342900" algn="just" fontAlgn="base">
              <a:lnSpc>
                <a:spcPct val="103000"/>
              </a:lnSpc>
              <a:spcAft>
                <a:spcPts val="145"/>
              </a:spcAft>
              <a:buFont typeface="+mj-lt"/>
              <a:buAutoNum type="arabicPeriod"/>
              <a:tabLst>
                <a:tab pos="457200" algn="l"/>
              </a:tabLst>
            </a:pPr>
            <a:r>
              <a:rPr lang="en-IN" sz="1200" dirty="0">
                <a:solidFill>
                  <a:srgbClr val="000000"/>
                </a:solidFill>
                <a:effectLst/>
                <a:latin typeface="Times New Roman" panose="02020603050405020304" pitchFamily="18" charset="0"/>
                <a:ea typeface="Times New Roman" panose="02020603050405020304" pitchFamily="18" charset="0"/>
              </a:rPr>
              <a:t>POST /</a:t>
            </a:r>
            <a:r>
              <a:rPr lang="en-IN" sz="1200" dirty="0" err="1">
                <a:solidFill>
                  <a:srgbClr val="000000"/>
                </a:solidFill>
                <a:effectLst/>
                <a:latin typeface="Times New Roman" panose="02020603050405020304" pitchFamily="18" charset="0"/>
                <a:ea typeface="Times New Roman" panose="02020603050405020304" pitchFamily="18" charset="0"/>
              </a:rPr>
              <a:t>api</a:t>
            </a:r>
            <a:r>
              <a:rPr lang="en-IN" sz="1200" dirty="0">
                <a:solidFill>
                  <a:srgbClr val="000000"/>
                </a:solidFill>
                <a:effectLst/>
                <a:latin typeface="Times New Roman" panose="02020603050405020304" pitchFamily="18" charset="0"/>
                <a:ea typeface="Times New Roman" panose="02020603050405020304" pitchFamily="18" charset="0"/>
              </a:rPr>
              <a:t>/courses: Create a new course</a:t>
            </a:r>
          </a:p>
          <a:p>
            <a:pPr marL="742950" lvl="1" indent="-285750" algn="just" fontAlgn="base">
              <a:lnSpc>
                <a:spcPct val="103000"/>
              </a:lnSpc>
              <a:spcAft>
                <a:spcPts val="145"/>
              </a:spcAft>
              <a:buSzPts val="1000"/>
              <a:buFont typeface="Courier New" panose="02070309020205020404" pitchFamily="49" charset="0"/>
              <a:buChar char="o"/>
              <a:tabLst>
                <a:tab pos="914400" algn="l"/>
              </a:tabLs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Request: The course details in the request body</a:t>
            </a:r>
          </a:p>
          <a:p>
            <a:pPr marL="742950" lvl="1" indent="-285750" algn="just" fontAlgn="base">
              <a:lnSpc>
                <a:spcPct val="103000"/>
              </a:lnSpc>
              <a:spcAft>
                <a:spcPts val="145"/>
              </a:spcAft>
              <a:buSzPts val="1000"/>
              <a:buFont typeface="Courier New" panose="02070309020205020404" pitchFamily="49" charset="0"/>
              <a:buChar char="o"/>
              <a:tabLst>
                <a:tab pos="914400" algn="l"/>
              </a:tabLs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Response: The newly created course</a:t>
            </a:r>
          </a:p>
          <a:p>
            <a:pPr marL="342900" lvl="0" indent="-342900" algn="just" fontAlgn="base">
              <a:lnSpc>
                <a:spcPct val="103000"/>
              </a:lnSpc>
              <a:spcAft>
                <a:spcPts val="145"/>
              </a:spcAft>
              <a:buFont typeface="+mj-lt"/>
              <a:buAutoNum type="arabicPeriod"/>
              <a:tabLst>
                <a:tab pos="457200" algn="l"/>
              </a:tabLst>
            </a:pPr>
            <a:r>
              <a:rPr lang="en-IN" sz="1200" dirty="0">
                <a:solidFill>
                  <a:srgbClr val="000000"/>
                </a:solidFill>
                <a:effectLst/>
                <a:latin typeface="Times New Roman" panose="02020603050405020304" pitchFamily="18" charset="0"/>
                <a:ea typeface="Times New Roman" panose="02020603050405020304" pitchFamily="18" charset="0"/>
              </a:rPr>
              <a:t>PUT /</a:t>
            </a:r>
            <a:r>
              <a:rPr lang="en-IN" sz="1200" dirty="0" err="1">
                <a:solidFill>
                  <a:srgbClr val="000000"/>
                </a:solidFill>
                <a:effectLst/>
                <a:latin typeface="Times New Roman" panose="02020603050405020304" pitchFamily="18" charset="0"/>
                <a:ea typeface="Times New Roman" panose="02020603050405020304" pitchFamily="18" charset="0"/>
              </a:rPr>
              <a:t>api</a:t>
            </a:r>
            <a:r>
              <a:rPr lang="en-IN" sz="1200" dirty="0">
                <a:solidFill>
                  <a:srgbClr val="000000"/>
                </a:solidFill>
                <a:effectLst/>
                <a:latin typeface="Times New Roman" panose="02020603050405020304" pitchFamily="18" charset="0"/>
                <a:ea typeface="Times New Roman" panose="02020603050405020304" pitchFamily="18" charset="0"/>
              </a:rPr>
              <a:t>/courses/:id: Update an existing course by ID</a:t>
            </a:r>
          </a:p>
          <a:p>
            <a:pPr marL="742950" lvl="1" indent="-285750" algn="just" fontAlgn="base">
              <a:lnSpc>
                <a:spcPct val="103000"/>
              </a:lnSpc>
              <a:spcAft>
                <a:spcPts val="145"/>
              </a:spcAft>
              <a:buSzPts val="1000"/>
              <a:buFont typeface="Courier New" panose="02070309020205020404" pitchFamily="49" charset="0"/>
              <a:buChar char="o"/>
              <a:tabLst>
                <a:tab pos="914400" algn="l"/>
              </a:tabLs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Request: The updated course details in the request body</a:t>
            </a:r>
          </a:p>
          <a:p>
            <a:pPr marL="742950" lvl="1" indent="-285750" algn="just" fontAlgn="base">
              <a:lnSpc>
                <a:spcPct val="103000"/>
              </a:lnSpc>
              <a:spcAft>
                <a:spcPts val="145"/>
              </a:spcAft>
              <a:buSzPts val="1000"/>
              <a:buFont typeface="Courier New" panose="02070309020205020404" pitchFamily="49" charset="0"/>
              <a:buChar char="o"/>
              <a:tabLst>
                <a:tab pos="914400" algn="l"/>
              </a:tabLs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Response: The updated course</a:t>
            </a:r>
          </a:p>
          <a:p>
            <a:pPr marL="342900" lvl="0" indent="-342900" algn="just" fontAlgn="base">
              <a:lnSpc>
                <a:spcPct val="103000"/>
              </a:lnSpc>
              <a:spcAft>
                <a:spcPts val="145"/>
              </a:spcAft>
              <a:buFont typeface="+mj-lt"/>
              <a:buAutoNum type="arabicPeriod"/>
              <a:tabLst>
                <a:tab pos="457200" algn="l"/>
              </a:tabLst>
            </a:pPr>
            <a:r>
              <a:rPr lang="en-IN" sz="1200" dirty="0">
                <a:solidFill>
                  <a:srgbClr val="000000"/>
                </a:solidFill>
                <a:effectLst/>
                <a:latin typeface="Times New Roman" panose="02020603050405020304" pitchFamily="18" charset="0"/>
                <a:ea typeface="Times New Roman" panose="02020603050405020304" pitchFamily="18" charset="0"/>
              </a:rPr>
              <a:t>DELETE /</a:t>
            </a:r>
            <a:r>
              <a:rPr lang="en-IN" sz="1200" dirty="0" err="1">
                <a:solidFill>
                  <a:srgbClr val="000000"/>
                </a:solidFill>
                <a:effectLst/>
                <a:latin typeface="Times New Roman" panose="02020603050405020304" pitchFamily="18" charset="0"/>
                <a:ea typeface="Times New Roman" panose="02020603050405020304" pitchFamily="18" charset="0"/>
              </a:rPr>
              <a:t>api</a:t>
            </a:r>
            <a:r>
              <a:rPr lang="en-IN" sz="1200" dirty="0">
                <a:solidFill>
                  <a:srgbClr val="000000"/>
                </a:solidFill>
                <a:effectLst/>
                <a:latin typeface="Times New Roman" panose="02020603050405020304" pitchFamily="18" charset="0"/>
                <a:ea typeface="Times New Roman" panose="02020603050405020304" pitchFamily="18" charset="0"/>
              </a:rPr>
              <a:t>/courses/:id: Delete a course by ID</a:t>
            </a:r>
          </a:p>
          <a:p>
            <a:pPr marL="742950" lvl="1" indent="-285750" algn="just" fontAlgn="base">
              <a:lnSpc>
                <a:spcPct val="103000"/>
              </a:lnSpc>
              <a:spcAft>
                <a:spcPts val="1000"/>
              </a:spcAft>
              <a:buSzPts val="1000"/>
              <a:buFont typeface="Courier New" panose="02070309020205020404" pitchFamily="49" charset="0"/>
              <a:buChar char="o"/>
              <a:tabLst>
                <a:tab pos="914400" algn="l"/>
              </a:tabLs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Response: A success message indicating that the course has been deleted.</a:t>
            </a:r>
          </a:p>
          <a:p>
            <a:pPr marL="342900" lvl="0" indent="-342900" algn="just" fontAlgn="base">
              <a:lnSpc>
                <a:spcPct val="103000"/>
              </a:lnSpc>
              <a:spcAft>
                <a:spcPts val="145"/>
              </a:spcAft>
              <a:buFont typeface="+mj-lt"/>
              <a:buAutoNum type="arabicPeriod"/>
              <a:tabLst>
                <a:tab pos="457200" algn="l"/>
              </a:tabLst>
            </a:pPr>
            <a:r>
              <a:rPr lang="en-IN" sz="1400" dirty="0">
                <a:solidFill>
                  <a:srgbClr val="000000"/>
                </a:solidFill>
                <a:effectLst/>
                <a:latin typeface="Times New Roman" panose="02020603050405020304" pitchFamily="18" charset="0"/>
                <a:ea typeface="Times New Roman" panose="02020603050405020304" pitchFamily="18" charset="0"/>
              </a:rPr>
              <a:t>/</a:t>
            </a:r>
            <a:r>
              <a:rPr lang="en-IN" sz="1400" dirty="0" err="1">
                <a:solidFill>
                  <a:srgbClr val="000000"/>
                </a:solidFill>
                <a:effectLst/>
                <a:latin typeface="Times New Roman" panose="02020603050405020304" pitchFamily="18" charset="0"/>
                <a:ea typeface="Times New Roman" panose="02020603050405020304" pitchFamily="18" charset="0"/>
              </a:rPr>
              <a:t>api</a:t>
            </a:r>
            <a:r>
              <a:rPr lang="en-IN" sz="1400" dirty="0">
                <a:solidFill>
                  <a:srgbClr val="000000"/>
                </a:solidFill>
                <a:effectLst/>
                <a:latin typeface="Times New Roman" panose="02020603050405020304" pitchFamily="18" charset="0"/>
                <a:ea typeface="Times New Roman" panose="02020603050405020304" pitchFamily="18" charset="0"/>
              </a:rPr>
              <a:t>/courses/:id/rate (POST) - Add a rating (out of 5) to a course.</a:t>
            </a:r>
          </a:p>
        </p:txBody>
      </p:sp>
    </p:spTree>
    <p:extLst>
      <p:ext uri="{BB962C8B-B14F-4D97-AF65-F5344CB8AC3E}">
        <p14:creationId xmlns:p14="http://schemas.microsoft.com/office/powerpoint/2010/main" val="365355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61240ADC-D67F-A262-3295-1FD62535DE5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F0C39A5-B48D-CAA8-F6EF-36E5411B0892}"/>
              </a:ext>
            </a:extLst>
          </p:cNvPr>
          <p:cNvSpPr txBox="1">
            <a:spLocks noGrp="1"/>
          </p:cNvSpPr>
          <p:nvPr>
            <p:ph type="title"/>
          </p:nvPr>
        </p:nvSpPr>
        <p:spPr>
          <a:xfrm>
            <a:off x="551037" y="593221"/>
            <a:ext cx="3593124"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mj-lt"/>
              </a:rPr>
              <a:t>Features</a:t>
            </a:r>
          </a:p>
        </p:txBody>
      </p:sp>
      <p:sp>
        <p:nvSpPr>
          <p:cNvPr id="3" name="Rectangle 2">
            <a:extLst>
              <a:ext uri="{FF2B5EF4-FFF2-40B4-BE49-F238E27FC236}">
                <a16:creationId xmlns:a16="http://schemas.microsoft.com/office/drawing/2014/main" id="{8EDE5B8F-6BE9-C397-8D46-EC695DB7CE30}"/>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ED2EA162-3B51-FDCF-06E2-449620185758}"/>
              </a:ext>
            </a:extLst>
          </p:cNvPr>
          <p:cNvSpPr>
            <a:spLocks noChangeArrowheads="1"/>
          </p:cNvSpPr>
          <p:nvPr/>
        </p:nvSpPr>
        <p:spPr bwMode="auto">
          <a:xfrm>
            <a:off x="551037" y="930278"/>
            <a:ext cx="9926813" cy="558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800" b="1" dirty="0">
                <a:latin typeface="Times New Roman" panose="02020603050405020304" pitchFamily="18" charset="0"/>
                <a:cs typeface="Times New Roman" panose="02020603050405020304" pitchFamily="18" charset="0"/>
              </a:rPr>
              <a:t>User Authentication:</a:t>
            </a:r>
            <a:r>
              <a:rPr lang="en-US" sz="1800" dirty="0">
                <a:latin typeface="Times New Roman" panose="02020603050405020304" pitchFamily="18" charset="0"/>
                <a:cs typeface="Times New Roman" panose="02020603050405020304" pitchFamily="18" charset="0"/>
              </a:rPr>
              <a:t> Secure signup/login with JWT, OTP, and password reset.</a:t>
            </a:r>
          </a:p>
          <a:p>
            <a:pPr>
              <a:lnSpc>
                <a:spcPct val="150000"/>
              </a:lnSpc>
            </a:pPr>
            <a:r>
              <a:rPr lang="en-US" sz="1800" b="1" dirty="0">
                <a:latin typeface="Times New Roman" panose="02020603050405020304" pitchFamily="18" charset="0"/>
                <a:cs typeface="Times New Roman" panose="02020603050405020304" pitchFamily="18" charset="0"/>
              </a:rPr>
              <a:t>User Profiles:</a:t>
            </a:r>
            <a:r>
              <a:rPr lang="en-US" sz="1800" dirty="0">
                <a:latin typeface="Times New Roman" panose="02020603050405020304" pitchFamily="18" charset="0"/>
                <a:cs typeface="Times New Roman" panose="02020603050405020304" pitchFamily="18" charset="0"/>
              </a:rPr>
              <a:t> Editable student/instructor profiles with role-based dashboards.</a:t>
            </a:r>
          </a:p>
          <a:p>
            <a:pPr>
              <a:lnSpc>
                <a:spcPct val="150000"/>
              </a:lnSpc>
            </a:pPr>
            <a:r>
              <a:rPr lang="en-US" sz="1800" b="1" dirty="0">
                <a:latin typeface="Times New Roman" panose="02020603050405020304" pitchFamily="18" charset="0"/>
                <a:cs typeface="Times New Roman" panose="02020603050405020304" pitchFamily="18" charset="0"/>
              </a:rPr>
              <a:t>Course Management:</a:t>
            </a:r>
            <a:r>
              <a:rPr lang="en-US" sz="1800" dirty="0">
                <a:latin typeface="Times New Roman" panose="02020603050405020304" pitchFamily="18" charset="0"/>
                <a:cs typeface="Times New Roman" panose="02020603050405020304" pitchFamily="18" charset="0"/>
              </a:rPr>
              <a:t> Create, update, delete, browse, and rate courses. </a:t>
            </a:r>
          </a:p>
          <a:p>
            <a:pPr>
              <a:lnSpc>
                <a:spcPct val="150000"/>
              </a:lnSpc>
            </a:pPr>
            <a:r>
              <a:rPr lang="en-US" sz="1800" b="1" dirty="0">
                <a:latin typeface="Times New Roman" panose="02020603050405020304" pitchFamily="18" charset="0"/>
                <a:cs typeface="Times New Roman" panose="02020603050405020304" pitchFamily="18" charset="0"/>
              </a:rPr>
              <a:t>Media Handling:</a:t>
            </a:r>
            <a:r>
              <a:rPr lang="en-US" sz="1800" dirty="0">
                <a:latin typeface="Times New Roman" panose="02020603050405020304" pitchFamily="18" charset="0"/>
                <a:cs typeface="Times New Roman" panose="02020603050405020304" pitchFamily="18" charset="0"/>
              </a:rPr>
              <a:t> Cloud-based storage with </a:t>
            </a:r>
            <a:r>
              <a:rPr lang="en-US" sz="1800" dirty="0" err="1">
                <a:latin typeface="Times New Roman" panose="02020603050405020304" pitchFamily="18" charset="0"/>
                <a:cs typeface="Times New Roman" panose="02020603050405020304" pitchFamily="18" charset="0"/>
              </a:rPr>
              <a:t>Cloudinary</a:t>
            </a:r>
            <a:r>
              <a:rPr lang="en-US" sz="1800" dirty="0">
                <a:latin typeface="Times New Roman" panose="02020603050405020304" pitchFamily="18" charset="0"/>
                <a:cs typeface="Times New Roman" panose="02020603050405020304" pitchFamily="18" charset="0"/>
              </a:rPr>
              <a:t> for videos, images, and documents.</a:t>
            </a:r>
          </a:p>
          <a:p>
            <a:pPr>
              <a:lnSpc>
                <a:spcPct val="150000"/>
              </a:lnSpc>
            </a:pPr>
            <a:r>
              <a:rPr lang="en-US" sz="1800" b="1" dirty="0">
                <a:latin typeface="Times New Roman" panose="02020603050405020304" pitchFamily="18" charset="0"/>
                <a:cs typeface="Times New Roman" panose="02020603050405020304" pitchFamily="18" charset="0"/>
              </a:rPr>
              <a:t>Payment Integration: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Razorpay</a:t>
            </a:r>
            <a:r>
              <a:rPr lang="en-US" sz="1800" dirty="0">
                <a:latin typeface="Times New Roman" panose="02020603050405020304" pitchFamily="18" charset="0"/>
                <a:cs typeface="Times New Roman" panose="02020603050405020304" pitchFamily="18" charset="0"/>
              </a:rPr>
              <a:t>-enabled checkout for course purchases.</a:t>
            </a:r>
          </a:p>
          <a:p>
            <a:pPr>
              <a:lnSpc>
                <a:spcPct val="150000"/>
              </a:lnSpc>
            </a:pPr>
            <a:r>
              <a:rPr lang="en-US" sz="1800" b="1" dirty="0">
                <a:latin typeface="Times New Roman" panose="02020603050405020304" pitchFamily="18" charset="0"/>
                <a:cs typeface="Times New Roman" panose="02020603050405020304" pitchFamily="18" charset="0"/>
              </a:rPr>
              <a:t>Learning Experience:</a:t>
            </a:r>
            <a:r>
              <a:rPr lang="en-US" sz="1800" dirty="0">
                <a:latin typeface="Times New Roman" panose="02020603050405020304" pitchFamily="18" charset="0"/>
                <a:cs typeface="Times New Roman" panose="02020603050405020304" pitchFamily="18" charset="0"/>
              </a:rPr>
              <a:t> Video lectures, markdown notes, assignments, quizzes, and certificates.</a:t>
            </a:r>
          </a:p>
          <a:p>
            <a:pPr>
              <a:lnSpc>
                <a:spcPct val="150000"/>
              </a:lnSpc>
            </a:pPr>
            <a:r>
              <a:rPr lang="en-US" sz="1800" b="1" dirty="0">
                <a:latin typeface="Times New Roman" panose="02020603050405020304" pitchFamily="18" charset="0"/>
                <a:cs typeface="Times New Roman" panose="02020603050405020304" pitchFamily="18" charset="0"/>
              </a:rPr>
              <a:t>Instructor Tools:</a:t>
            </a:r>
            <a:r>
              <a:rPr lang="en-US" sz="1800" dirty="0">
                <a:latin typeface="Times New Roman" panose="02020603050405020304" pitchFamily="18" charset="0"/>
                <a:cs typeface="Times New Roman" panose="02020603050405020304" pitchFamily="18" charset="0"/>
              </a:rPr>
              <a:t> Course analytics, student progress tracking, and content management.</a:t>
            </a:r>
          </a:p>
          <a:p>
            <a:pPr>
              <a:lnSpc>
                <a:spcPct val="150000"/>
              </a:lnSpc>
            </a:pPr>
            <a:r>
              <a:rPr lang="en-US" sz="1800" b="1" dirty="0">
                <a:latin typeface="Times New Roman" panose="02020603050405020304" pitchFamily="18" charset="0"/>
                <a:cs typeface="Times New Roman" panose="02020603050405020304" pitchFamily="18" charset="0"/>
              </a:rPr>
              <a:t>Admin Controls:</a:t>
            </a:r>
            <a:r>
              <a:rPr lang="en-US" sz="1800" dirty="0">
                <a:latin typeface="Times New Roman" panose="02020603050405020304" pitchFamily="18" charset="0"/>
                <a:cs typeface="Times New Roman" panose="02020603050405020304" pitchFamily="18" charset="0"/>
              </a:rPr>
              <a:t> Platform insights, user management, and instructor/course moderation.</a:t>
            </a:r>
          </a:p>
          <a:p>
            <a:pPr>
              <a:lnSpc>
                <a:spcPct val="150000"/>
              </a:lnSpc>
            </a:pPr>
            <a:r>
              <a:rPr lang="en-US" sz="1800" b="1" dirty="0">
                <a:latin typeface="Times New Roman" panose="02020603050405020304" pitchFamily="18" charset="0"/>
                <a:cs typeface="Times New Roman" panose="02020603050405020304" pitchFamily="18" charset="0"/>
              </a:rPr>
              <a:t>Notifications:</a:t>
            </a:r>
            <a:r>
              <a:rPr lang="en-US" sz="1800" dirty="0">
                <a:latin typeface="Times New Roman" panose="02020603050405020304" pitchFamily="18" charset="0"/>
                <a:cs typeface="Times New Roman" panose="02020603050405020304" pitchFamily="18" charset="0"/>
              </a:rPr>
              <a:t> Real-time updates for enrollments, assignments, and announcements.</a:t>
            </a:r>
          </a:p>
          <a:p>
            <a:pPr>
              <a:lnSpc>
                <a:spcPct val="150000"/>
              </a:lnSpc>
            </a:pPr>
            <a:r>
              <a:rPr lang="en-US" sz="1800" b="1" dirty="0">
                <a:latin typeface="Times New Roman" panose="02020603050405020304" pitchFamily="18" charset="0"/>
                <a:cs typeface="Times New Roman" panose="02020603050405020304" pitchFamily="18" charset="0"/>
              </a:rPr>
              <a:t>Scalability &amp; Security:</a:t>
            </a:r>
            <a:r>
              <a:rPr lang="en-US" sz="1800" dirty="0">
                <a:latin typeface="Times New Roman" panose="02020603050405020304" pitchFamily="18" charset="0"/>
                <a:cs typeface="Times New Roman" panose="02020603050405020304" pitchFamily="18" charset="0"/>
              </a:rPr>
              <a:t> MERN stack architecture with JWT, </a:t>
            </a:r>
            <a:r>
              <a:rPr lang="en-US" sz="1800" dirty="0" err="1">
                <a:latin typeface="Times New Roman" panose="02020603050405020304" pitchFamily="18" charset="0"/>
                <a:cs typeface="Times New Roman" panose="02020603050405020304" pitchFamily="18" charset="0"/>
              </a:rPr>
              <a:t>bcrypt</a:t>
            </a:r>
            <a:r>
              <a:rPr lang="en-US" sz="1800" dirty="0">
                <a:latin typeface="Times New Roman" panose="02020603050405020304" pitchFamily="18" charset="0"/>
                <a:cs typeface="Times New Roman" panose="02020603050405020304" pitchFamily="18" charset="0"/>
              </a:rPr>
              <a:t> </a:t>
            </a:r>
          </a:p>
          <a:p>
            <a:pPr>
              <a:lnSpc>
                <a:spcPct val="150000"/>
              </a:lnSpc>
            </a:pPr>
            <a:r>
              <a:rPr lang="en-US" sz="1800" b="1" dirty="0"/>
              <a:t>Mentorship Module:</a:t>
            </a:r>
            <a:r>
              <a:rPr lang="en-US" sz="1800" dirty="0"/>
              <a:t> Juniors connect with seniors (platform alumni) for doubt resolution, guidance, and personalized learning roadmaps.(</a:t>
            </a:r>
            <a:r>
              <a:rPr lang="en-IN" sz="1800" dirty="0"/>
              <a:t>Future Scope)</a:t>
            </a:r>
            <a:endParaRPr lang="en-US" sz="1800" dirty="0">
              <a:latin typeface="Times New Roman" panose="02020603050405020304" pitchFamily="18" charset="0"/>
              <a:cs typeface="Times New Roman" panose="02020603050405020304" pitchFamily="18" charset="0"/>
            </a:endParaRPr>
          </a:p>
          <a:p>
            <a:pPr>
              <a:lnSpc>
                <a:spcPct val="15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779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87C2DFF9-57D0-305E-9150-E47ED817DB7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2F36C0B-4140-FB66-5D5E-E3DE938BC27E}"/>
              </a:ext>
            </a:extLst>
          </p:cNvPr>
          <p:cNvSpPr txBox="1">
            <a:spLocks noGrp="1"/>
          </p:cNvSpPr>
          <p:nvPr>
            <p:ph type="title"/>
          </p:nvPr>
        </p:nvSpPr>
        <p:spPr>
          <a:xfrm>
            <a:off x="551036" y="390089"/>
            <a:ext cx="5544963" cy="751488"/>
          </a:xfrm>
          <a:prstGeom prst="rect">
            <a:avLst/>
          </a:prstGeom>
          <a:noFill/>
          <a:ln>
            <a:noFill/>
          </a:ln>
        </p:spPr>
        <p:txBody>
          <a:bodyPr spcFirstLastPara="1" wrap="square" lIns="0" tIns="12700" rIns="0" bIns="0" anchor="ctr" anchorCtr="0">
            <a:spAutoFit/>
          </a:bodyPr>
          <a:lstStyle/>
          <a:p>
            <a:pPr marL="12700">
              <a:lnSpc>
                <a:spcPct val="100000"/>
              </a:lnSpc>
              <a:buClr>
                <a:srgbClr val="04A2B9"/>
              </a:buClr>
              <a:buSzPts val="2400"/>
            </a:pPr>
            <a:r>
              <a:rPr lang="en-IN" sz="2400" b="1" dirty="0">
                <a:solidFill>
                  <a:srgbClr val="04A2B9"/>
                </a:solidFill>
                <a:latin typeface="+mj-lt"/>
              </a:rPr>
              <a:t>Tools and Technologies used</a:t>
            </a:r>
            <a:br>
              <a:rPr lang="en-IN" sz="2400" b="1" dirty="0">
                <a:solidFill>
                  <a:srgbClr val="04A2B9"/>
                </a:solidFill>
                <a:latin typeface="+mj-lt"/>
              </a:rPr>
            </a:br>
            <a:endParaRPr sz="2400" b="1" dirty="0">
              <a:solidFill>
                <a:srgbClr val="04A2B9"/>
              </a:solidFill>
              <a:latin typeface="+mj-lt"/>
              <a:ea typeface="Proxima Nova"/>
              <a:cs typeface="Proxima Nova"/>
              <a:sym typeface="Proxima Nova"/>
            </a:endParaRPr>
          </a:p>
        </p:txBody>
      </p:sp>
      <p:sp>
        <p:nvSpPr>
          <p:cNvPr id="3" name="Rectangle 2">
            <a:extLst>
              <a:ext uri="{FF2B5EF4-FFF2-40B4-BE49-F238E27FC236}">
                <a16:creationId xmlns:a16="http://schemas.microsoft.com/office/drawing/2014/main" id="{3D172AB0-960E-BD8F-875B-0A6A20507367}"/>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49209AD-3127-756F-1141-FA0481C959AD}"/>
              </a:ext>
            </a:extLst>
          </p:cNvPr>
          <p:cNvSpPr txBox="1"/>
          <p:nvPr/>
        </p:nvSpPr>
        <p:spPr>
          <a:xfrm>
            <a:off x="435935" y="489098"/>
            <a:ext cx="184731" cy="307777"/>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9BEB935F-A723-6250-5BB0-2F11673AE0E4}"/>
              </a:ext>
            </a:extLst>
          </p:cNvPr>
          <p:cNvSpPr txBox="1"/>
          <p:nvPr/>
        </p:nvSpPr>
        <p:spPr>
          <a:xfrm>
            <a:off x="551036" y="1269178"/>
            <a:ext cx="11640964" cy="3828227"/>
          </a:xfrm>
          <a:prstGeom prst="rect">
            <a:avLst/>
          </a:prstGeom>
          <a:noFill/>
        </p:spPr>
        <p:txBody>
          <a:bodyPr wrap="square">
            <a:spAutoFit/>
          </a:bodyPr>
          <a:lstStyle/>
          <a:p>
            <a:pPr marL="285750" indent="-285750" algn="just">
              <a:lnSpc>
                <a:spcPct val="150000"/>
              </a:lnSpc>
              <a:buFont typeface="Wingdings" pitchFamily="2" charset="2"/>
              <a:buChar char="Ø"/>
            </a:pPr>
            <a:r>
              <a:rPr lang="en-IN" sz="1800" b="1" dirty="0">
                <a:latin typeface="Times New Roman" panose="02020603050405020304" pitchFamily="18" charset="0"/>
                <a:cs typeface="Times New Roman" panose="02020603050405020304" pitchFamily="18" charset="0"/>
              </a:rPr>
              <a:t>Front-End Technologies</a:t>
            </a:r>
          </a:p>
          <a:p>
            <a:pPr marL="285750" indent="-285750" algn="just">
              <a:lnSpc>
                <a:spcPct val="150000"/>
              </a:lnSpc>
              <a:buFont typeface="Wingdings" pitchFamily="2" charset="2"/>
              <a:buChar char="Ø"/>
            </a:pPr>
            <a:r>
              <a:rPr lang="en-US" sz="2000" dirty="0"/>
              <a:t>Framework: ReactJS for dynamic and responsive interfaces</a:t>
            </a:r>
          </a:p>
          <a:p>
            <a:pPr marL="285750" indent="-28575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ReactJS:</a:t>
            </a:r>
            <a:r>
              <a:rPr lang="en-US" sz="1800" dirty="0">
                <a:latin typeface="Times New Roman" panose="02020603050405020304" pitchFamily="18" charset="0"/>
                <a:cs typeface="Times New Roman" panose="02020603050405020304" pitchFamily="18" charset="0"/>
              </a:rPr>
              <a:t> Used as the core library for building dynamic, component-based, and responsive user interfaces.</a:t>
            </a:r>
          </a:p>
          <a:p>
            <a:pPr marL="285750" indent="-28575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Redux Toolkit:</a:t>
            </a:r>
            <a:r>
              <a:rPr lang="en-US" sz="1800" dirty="0">
                <a:latin typeface="Times New Roman" panose="02020603050405020304" pitchFamily="18" charset="0"/>
                <a:cs typeface="Times New Roman" panose="02020603050405020304" pitchFamily="18" charset="0"/>
              </a:rPr>
              <a:t> Implemented for efficient state management and predictable application flow.</a:t>
            </a:r>
          </a:p>
          <a:p>
            <a:pPr marL="285750" indent="-28575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React Router:</a:t>
            </a:r>
            <a:r>
              <a:rPr lang="en-US" sz="1800" dirty="0">
                <a:latin typeface="Times New Roman" panose="02020603050405020304" pitchFamily="18" charset="0"/>
                <a:cs typeface="Times New Roman" panose="02020603050405020304" pitchFamily="18" charset="0"/>
              </a:rPr>
              <a:t> Integrated for seamless client-side routing and navigation between pages.</a:t>
            </a:r>
          </a:p>
          <a:p>
            <a:pPr marL="285750" indent="-28575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Tailwind CSS:</a:t>
            </a:r>
            <a:r>
              <a:rPr lang="en-US" sz="1800" dirty="0">
                <a:latin typeface="Times New Roman" panose="02020603050405020304" pitchFamily="18" charset="0"/>
                <a:cs typeface="Times New Roman" panose="02020603050405020304" pitchFamily="18" charset="0"/>
              </a:rPr>
              <a:t> Utilized for responsive and modern styling with utility-first classes.</a:t>
            </a:r>
          </a:p>
          <a:p>
            <a:pPr marL="285750" indent="-285750" algn="just">
              <a:lnSpc>
                <a:spcPct val="150000"/>
              </a:lnSpc>
              <a:buFont typeface="Wingdings" pitchFamily="2" charset="2"/>
              <a:buChar char="Ø"/>
            </a:pPr>
            <a:r>
              <a:rPr lang="en-US" sz="1800" b="1" dirty="0"/>
              <a:t>Framer Motion:</a:t>
            </a:r>
            <a:r>
              <a:rPr lang="en-US" sz="1800" dirty="0"/>
              <a:t> Added for smooth animations and interactive transitions, enhancing the user experience.</a:t>
            </a:r>
          </a:p>
          <a:p>
            <a:pPr marL="285750" indent="-285750" algn="just">
              <a:lnSpc>
                <a:spcPct val="150000"/>
              </a:lnSpc>
              <a:buFont typeface="Wingdings" pitchFamily="2" charset="2"/>
              <a:buChar char="Ø"/>
            </a:pPr>
            <a:r>
              <a:rPr lang="en-US" sz="1800" b="1" dirty="0" err="1">
                <a:latin typeface="Times New Roman" panose="02020603050405020304" pitchFamily="18" charset="0"/>
                <a:cs typeface="Times New Roman" panose="02020603050405020304" pitchFamily="18" charset="0"/>
              </a:rPr>
              <a:t>npm</a:t>
            </a:r>
            <a:r>
              <a:rPr lang="en-US" sz="1800" b="1" dirty="0">
                <a:latin typeface="Times New Roman" panose="02020603050405020304" pitchFamily="18" charset="0"/>
                <a:cs typeface="Times New Roman" panose="02020603050405020304" pitchFamily="18" charset="0"/>
              </a:rPr>
              <a:t> Packages:</a:t>
            </a:r>
            <a:r>
              <a:rPr lang="en-US" sz="1800" dirty="0">
                <a:latin typeface="Times New Roman" panose="02020603050405020304" pitchFamily="18" charset="0"/>
                <a:cs typeface="Times New Roman" panose="02020603050405020304" pitchFamily="18" charset="0"/>
              </a:rPr>
              <a:t> Various open-source libraries are used to extend functionality and speed up development.</a:t>
            </a:r>
          </a:p>
          <a:p>
            <a:pPr marL="285750" indent="-285750" algn="just">
              <a:lnSpc>
                <a:spcPct val="150000"/>
              </a:lnSpc>
              <a:buFont typeface="Wingdings" pitchFamily="2" charset="2"/>
              <a:buChar char="Ø"/>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882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87C2DFF9-57D0-305E-9150-E47ED817DB7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2F36C0B-4140-FB66-5D5E-E3DE938BC27E}"/>
              </a:ext>
            </a:extLst>
          </p:cNvPr>
          <p:cNvSpPr txBox="1">
            <a:spLocks noGrp="1"/>
          </p:cNvSpPr>
          <p:nvPr>
            <p:ph type="title"/>
          </p:nvPr>
        </p:nvSpPr>
        <p:spPr>
          <a:xfrm>
            <a:off x="551036" y="390089"/>
            <a:ext cx="5544963" cy="751488"/>
          </a:xfrm>
          <a:prstGeom prst="rect">
            <a:avLst/>
          </a:prstGeom>
          <a:noFill/>
          <a:ln>
            <a:noFill/>
          </a:ln>
        </p:spPr>
        <p:txBody>
          <a:bodyPr spcFirstLastPara="1" wrap="square" lIns="0" tIns="12700" rIns="0" bIns="0" anchor="ctr" anchorCtr="0">
            <a:spAutoFit/>
          </a:bodyPr>
          <a:lstStyle/>
          <a:p>
            <a:pPr marL="12700">
              <a:lnSpc>
                <a:spcPct val="100000"/>
              </a:lnSpc>
              <a:buClr>
                <a:srgbClr val="04A2B9"/>
              </a:buClr>
              <a:buSzPts val="2400"/>
            </a:pPr>
            <a:r>
              <a:rPr lang="en-IN" sz="2400" b="1" dirty="0">
                <a:solidFill>
                  <a:srgbClr val="04A2B9"/>
                </a:solidFill>
                <a:latin typeface="+mj-lt"/>
              </a:rPr>
              <a:t>Tools and Technologies used</a:t>
            </a:r>
            <a:br>
              <a:rPr lang="en-IN" sz="2400" b="1" dirty="0">
                <a:solidFill>
                  <a:srgbClr val="04A2B9"/>
                </a:solidFill>
                <a:latin typeface="+mj-lt"/>
              </a:rPr>
            </a:br>
            <a:endParaRPr sz="2400" b="1" dirty="0">
              <a:solidFill>
                <a:srgbClr val="04A2B9"/>
              </a:solidFill>
              <a:latin typeface="+mj-lt"/>
              <a:ea typeface="Proxima Nova"/>
              <a:cs typeface="Proxima Nova"/>
              <a:sym typeface="Proxima Nova"/>
            </a:endParaRPr>
          </a:p>
        </p:txBody>
      </p:sp>
      <p:sp>
        <p:nvSpPr>
          <p:cNvPr id="3" name="Rectangle 2">
            <a:extLst>
              <a:ext uri="{FF2B5EF4-FFF2-40B4-BE49-F238E27FC236}">
                <a16:creationId xmlns:a16="http://schemas.microsoft.com/office/drawing/2014/main" id="{3D172AB0-960E-BD8F-875B-0A6A20507367}"/>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B49209AD-3127-756F-1141-FA0481C959AD}"/>
              </a:ext>
            </a:extLst>
          </p:cNvPr>
          <p:cNvSpPr txBox="1"/>
          <p:nvPr/>
        </p:nvSpPr>
        <p:spPr>
          <a:xfrm>
            <a:off x="435935" y="489098"/>
            <a:ext cx="184731" cy="307777"/>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9BEB935F-A723-6250-5BB0-2F11673AE0E4}"/>
              </a:ext>
            </a:extLst>
          </p:cNvPr>
          <p:cNvSpPr txBox="1"/>
          <p:nvPr/>
        </p:nvSpPr>
        <p:spPr>
          <a:xfrm>
            <a:off x="551036" y="1269178"/>
            <a:ext cx="11640964" cy="4796185"/>
          </a:xfrm>
          <a:prstGeom prst="rect">
            <a:avLst/>
          </a:prstGeom>
          <a:noFill/>
        </p:spPr>
        <p:txBody>
          <a:bodyPr wrap="square">
            <a:spAutoFit/>
          </a:bodyPr>
          <a:lstStyle/>
          <a:p>
            <a:pPr marL="285750" indent="-285750" algn="just">
              <a:lnSpc>
                <a:spcPct val="150000"/>
              </a:lnSpc>
              <a:buFont typeface="Wingdings" pitchFamily="2" charset="2"/>
              <a:buChar char="Ø"/>
            </a:pPr>
            <a:r>
              <a:rPr lang="en-IN" sz="1800" b="1" dirty="0">
                <a:latin typeface="Times New Roman" panose="02020603050405020304" pitchFamily="18" charset="0"/>
                <a:cs typeface="Times New Roman" panose="02020603050405020304" pitchFamily="18" charset="0"/>
              </a:rPr>
              <a:t>Back-End Technologies</a:t>
            </a:r>
          </a:p>
          <a:p>
            <a:pPr marL="285750" indent="-285750" algn="just">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Framework</a:t>
            </a:r>
            <a:r>
              <a:rPr lang="en-US" sz="2000" dirty="0"/>
              <a:t> : </a:t>
            </a:r>
            <a:r>
              <a:rPr lang="en-US" sz="1800" dirty="0">
                <a:latin typeface="Times New Roman" panose="02020603050405020304" pitchFamily="18" charset="0"/>
                <a:cs typeface="Times New Roman" panose="02020603050405020304" pitchFamily="18" charset="0"/>
              </a:rPr>
              <a:t>Node.js with Express.js is used to develop scalable and efficient server-side logic, enabling RESTful API design and smooth communication with the front end.</a:t>
            </a:r>
          </a:p>
          <a:p>
            <a:pPr marL="285750" indent="-285750" algn="just">
              <a:lnSpc>
                <a:spcPct val="150000"/>
              </a:lnSpc>
              <a:buFont typeface="Wingdings" pitchFamily="2" charset="2"/>
              <a:buChar char="Ø"/>
            </a:pPr>
            <a:r>
              <a:rPr lang="en-IN" sz="1800" b="1" dirty="0">
                <a:latin typeface="Times New Roman" panose="02020603050405020304" pitchFamily="18" charset="0"/>
                <a:cs typeface="Times New Roman" panose="02020603050405020304" pitchFamily="18" charset="0"/>
              </a:rPr>
              <a:t>Database</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MongoDB (NoSQL) provides flexible, schema-less data storage for user accounts, course content, and media resources..</a:t>
            </a:r>
          </a:p>
          <a:p>
            <a:pPr marL="285750" indent="-285750" algn="just">
              <a:lnSpc>
                <a:spcPct val="150000"/>
              </a:lnSpc>
              <a:buFont typeface="Wingdings" pitchFamily="2" charset="2"/>
              <a:buChar char="Ø"/>
            </a:pPr>
            <a:r>
              <a:rPr lang="en-US" sz="1800" b="1" dirty="0"/>
              <a:t>Data Models:</a:t>
            </a:r>
            <a:endParaRPr lang="en-US" sz="1800" dirty="0"/>
          </a:p>
          <a:p>
            <a:pPr marL="285750" indent="-285750" algn="just">
              <a:lnSpc>
                <a:spcPct val="150000"/>
              </a:lnSpc>
              <a:buFont typeface="Wingdings" pitchFamily="2" charset="2"/>
              <a:buChar char="Ø"/>
            </a:pPr>
            <a:r>
              <a:rPr lang="en-US" sz="1800" b="1" dirty="0"/>
              <a:t>Student :</a:t>
            </a:r>
            <a:r>
              <a:rPr lang="en-US" sz="1800" dirty="0"/>
              <a:t> Fields include name, email, password, and enrolled course details.</a:t>
            </a:r>
          </a:p>
          <a:p>
            <a:pPr marL="285750" indent="-285750" algn="just">
              <a:lnSpc>
                <a:spcPct val="150000"/>
              </a:lnSpc>
              <a:buFont typeface="Wingdings" pitchFamily="2" charset="2"/>
              <a:buChar char="Ø"/>
            </a:pPr>
            <a:r>
              <a:rPr lang="en-US" sz="1800" b="1" dirty="0"/>
              <a:t>Student :</a:t>
            </a:r>
            <a:r>
              <a:rPr lang="en-US" sz="1800" dirty="0"/>
              <a:t> Fields include name, email, password, and enrolled course details.</a:t>
            </a:r>
          </a:p>
          <a:p>
            <a:pPr marL="285750" indent="-285750" algn="just">
              <a:lnSpc>
                <a:spcPct val="150000"/>
              </a:lnSpc>
              <a:buFont typeface="Wingdings" pitchFamily="2" charset="2"/>
              <a:buChar char="Ø"/>
            </a:pPr>
            <a:r>
              <a:rPr lang="en-US" sz="1800" b="1" dirty="0"/>
              <a:t>Course :</a:t>
            </a:r>
            <a:r>
              <a:rPr lang="en-US" sz="1800" dirty="0"/>
              <a:t> Fields include course name, description, instructor reference, and associated media.</a:t>
            </a:r>
          </a:p>
          <a:p>
            <a:pPr marL="285750" indent="-285750" algn="just">
              <a:lnSpc>
                <a:spcPct val="150000"/>
              </a:lnSpc>
              <a:buFont typeface="Wingdings" pitchFamily="2" charset="2"/>
              <a:buChar char="Ø"/>
            </a:pPr>
            <a:r>
              <a:rPr lang="en-IN" sz="1800" b="1" dirty="0"/>
              <a:t>Tools &amp; Libraries </a:t>
            </a:r>
            <a:r>
              <a:rPr lang="en-IN" sz="2400" dirty="0"/>
              <a:t>: </a:t>
            </a:r>
            <a:r>
              <a:rPr lang="en-US" sz="1800" dirty="0">
                <a:latin typeface="Times New Roman" panose="02020603050405020304" pitchFamily="18" charset="0"/>
                <a:cs typeface="Times New Roman" panose="02020603050405020304" pitchFamily="18" charset="0"/>
              </a:rPr>
              <a:t>Mongoose (ODM for MongoDB), JWT (secure authentication), and </a:t>
            </a:r>
            <a:r>
              <a:rPr lang="en-US" sz="1800" dirty="0" err="1">
                <a:latin typeface="Times New Roman" panose="02020603050405020304" pitchFamily="18" charset="0"/>
                <a:cs typeface="Times New Roman" panose="02020603050405020304" pitchFamily="18" charset="0"/>
              </a:rPr>
              <a:t>Bcrypt</a:t>
            </a:r>
            <a:r>
              <a:rPr lang="en-US" sz="1800" dirty="0">
                <a:latin typeface="Times New Roman" panose="02020603050405020304" pitchFamily="18" charset="0"/>
                <a:cs typeface="Times New Roman" panose="02020603050405020304" pitchFamily="18" charset="0"/>
              </a:rPr>
              <a:t> (password encryption).</a:t>
            </a:r>
          </a:p>
          <a:p>
            <a:pPr marL="285750" indent="-285750" algn="just">
              <a:lnSpc>
                <a:spcPct val="150000"/>
              </a:lnSpc>
              <a:buFont typeface="Wingdings" pitchFamily="2" charset="2"/>
              <a:buChar char="Ø"/>
            </a:pPr>
            <a:endParaRPr lang="en-US" sz="1800" dirty="0"/>
          </a:p>
        </p:txBody>
      </p:sp>
    </p:spTree>
    <p:extLst>
      <p:ext uri="{BB962C8B-B14F-4D97-AF65-F5344CB8AC3E}">
        <p14:creationId xmlns:p14="http://schemas.microsoft.com/office/powerpoint/2010/main" val="3566610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DD0F1B49-BED9-FE61-5DAD-314290AE705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C1A66C6-590B-B952-5109-D9B6879FF93B}"/>
              </a:ext>
            </a:extLst>
          </p:cNvPr>
          <p:cNvSpPr txBox="1">
            <a:spLocks noGrp="1"/>
          </p:cNvSpPr>
          <p:nvPr>
            <p:ph type="title"/>
          </p:nvPr>
        </p:nvSpPr>
        <p:spPr>
          <a:xfrm>
            <a:off x="551036" y="390089"/>
            <a:ext cx="5544963" cy="751488"/>
          </a:xfrm>
          <a:prstGeom prst="rect">
            <a:avLst/>
          </a:prstGeom>
          <a:noFill/>
          <a:ln>
            <a:noFill/>
          </a:ln>
        </p:spPr>
        <p:txBody>
          <a:bodyPr spcFirstLastPara="1" wrap="square" lIns="0" tIns="12700" rIns="0" bIns="0" anchor="ctr" anchorCtr="0">
            <a:spAutoFit/>
          </a:bodyPr>
          <a:lstStyle/>
          <a:p>
            <a:pPr marL="12700">
              <a:lnSpc>
                <a:spcPct val="100000"/>
              </a:lnSpc>
              <a:buClr>
                <a:srgbClr val="04A2B9"/>
              </a:buClr>
              <a:buSzPts val="2400"/>
            </a:pPr>
            <a:r>
              <a:rPr lang="en-IN" sz="2400" b="1" dirty="0">
                <a:solidFill>
                  <a:srgbClr val="04A2B9"/>
                </a:solidFill>
                <a:latin typeface="+mj-lt"/>
              </a:rPr>
              <a:t>Tools and Technologies used</a:t>
            </a:r>
            <a:br>
              <a:rPr lang="en-IN" sz="2400" b="1" dirty="0">
                <a:solidFill>
                  <a:srgbClr val="04A2B9"/>
                </a:solidFill>
                <a:latin typeface="+mj-lt"/>
              </a:rPr>
            </a:br>
            <a:endParaRPr sz="2400" b="1" dirty="0">
              <a:solidFill>
                <a:srgbClr val="04A2B9"/>
              </a:solidFill>
              <a:latin typeface="+mj-lt"/>
              <a:ea typeface="Proxima Nova"/>
              <a:cs typeface="Proxima Nova"/>
              <a:sym typeface="Proxima Nova"/>
            </a:endParaRPr>
          </a:p>
        </p:txBody>
      </p:sp>
      <p:sp>
        <p:nvSpPr>
          <p:cNvPr id="3" name="Rectangle 2">
            <a:extLst>
              <a:ext uri="{FF2B5EF4-FFF2-40B4-BE49-F238E27FC236}">
                <a16:creationId xmlns:a16="http://schemas.microsoft.com/office/drawing/2014/main" id="{D251737E-A69A-6695-E935-54FA11E80317}"/>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39FEDA85-A136-40AC-A0B9-079FF6E8892A}"/>
              </a:ext>
            </a:extLst>
          </p:cNvPr>
          <p:cNvSpPr txBox="1"/>
          <p:nvPr/>
        </p:nvSpPr>
        <p:spPr>
          <a:xfrm>
            <a:off x="551036" y="1590785"/>
            <a:ext cx="5926882" cy="2119747"/>
          </a:xfrm>
          <a:prstGeom prst="rect">
            <a:avLst/>
          </a:prstGeom>
          <a:noFill/>
        </p:spPr>
        <p:txBody>
          <a:bodyPr wrap="square">
            <a:spAutoFit/>
          </a:bodyPr>
          <a:lstStyle/>
          <a:p>
            <a:pPr marL="285750" indent="-285750">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Media Handling</a:t>
            </a:r>
          </a:p>
          <a:p>
            <a:pPr indent="295275">
              <a:lnSpc>
                <a:spcPct val="150000"/>
              </a:lnSpc>
            </a:pPr>
            <a:r>
              <a:rPr lang="en-US" sz="1800" b="1" dirty="0" err="1">
                <a:latin typeface="Times New Roman" panose="02020603050405020304" pitchFamily="18" charset="0"/>
                <a:cs typeface="Times New Roman" panose="02020603050405020304" pitchFamily="18" charset="0"/>
              </a:rPr>
              <a:t>Cloudinary</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Cloud-based storage and management for images, videos, and documents.</a:t>
            </a:r>
          </a:p>
          <a:p>
            <a:pPr indent="295275">
              <a:lnSpc>
                <a:spcPct val="150000"/>
              </a:lnSpc>
            </a:pPr>
            <a:r>
              <a:rPr lang="en-IN" sz="1800" b="1" dirty="0">
                <a:latin typeface="Times New Roman" panose="02020603050405020304" pitchFamily="18" charset="0"/>
                <a:cs typeface="Times New Roman" panose="02020603050405020304" pitchFamily="18" charset="0"/>
              </a:rPr>
              <a:t>Sharp / Expo-Image-Manipulator </a:t>
            </a:r>
            <a:r>
              <a:rPr lang="en-IN" sz="1800" dirty="0">
                <a:latin typeface="Times New Roman" panose="02020603050405020304" pitchFamily="18" charset="0"/>
                <a:cs typeface="Times New Roman" panose="02020603050405020304" pitchFamily="18" charset="0"/>
              </a:rPr>
              <a:t>: Image compression &amp; optimization.</a:t>
            </a:r>
            <a:endParaRPr lang="en-US"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C9DAB91-01B5-A363-9E4B-EE2FA203AE03}"/>
              </a:ext>
            </a:extLst>
          </p:cNvPr>
          <p:cNvSpPr txBox="1"/>
          <p:nvPr/>
        </p:nvSpPr>
        <p:spPr>
          <a:xfrm>
            <a:off x="551036" y="3891710"/>
            <a:ext cx="6097772" cy="1940916"/>
          </a:xfrm>
          <a:prstGeom prst="rect">
            <a:avLst/>
          </a:prstGeom>
          <a:noFill/>
        </p:spPr>
        <p:txBody>
          <a:bodyPr wrap="square">
            <a:spAutoFit/>
          </a:bodyPr>
          <a:lstStyle/>
          <a:p>
            <a:pPr marL="285750" indent="-28575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Testing &amp; Debugging</a:t>
            </a:r>
          </a:p>
          <a:p>
            <a:pPr indent="295275" algn="just">
              <a:lnSpc>
                <a:spcPct val="150000"/>
              </a:lnSpc>
            </a:pPr>
            <a:r>
              <a:rPr lang="en-US" sz="1600" b="1" dirty="0">
                <a:latin typeface="Times New Roman" panose="02020603050405020304" pitchFamily="18" charset="0"/>
                <a:cs typeface="Times New Roman" panose="02020603050405020304" pitchFamily="18" charset="0"/>
              </a:rPr>
              <a:t>Expo Go / Expo Dev Tools</a:t>
            </a:r>
            <a:r>
              <a:rPr lang="en-US" sz="1600" dirty="0">
                <a:latin typeface="Times New Roman" panose="02020603050405020304" pitchFamily="18" charset="0"/>
                <a:cs typeface="Times New Roman" panose="02020603050405020304" pitchFamily="18" charset="0"/>
              </a:rPr>
              <a:t> – Live testing on devices</a:t>
            </a:r>
          </a:p>
          <a:p>
            <a:pPr indent="295275" algn="just">
              <a:lnSpc>
                <a:spcPct val="150000"/>
              </a:lnSpc>
            </a:pPr>
            <a:r>
              <a:rPr lang="en-US" sz="1600" b="1" dirty="0">
                <a:latin typeface="Times New Roman" panose="02020603050405020304" pitchFamily="18" charset="0"/>
                <a:cs typeface="Times New Roman" panose="02020603050405020304" pitchFamily="18" charset="0"/>
              </a:rPr>
              <a:t>React Native Debugger</a:t>
            </a:r>
            <a:r>
              <a:rPr lang="en-US" sz="1600" dirty="0">
                <a:latin typeface="Times New Roman" panose="02020603050405020304" pitchFamily="18" charset="0"/>
                <a:cs typeface="Times New Roman" panose="02020603050405020304" pitchFamily="18" charset="0"/>
              </a:rPr>
              <a:t> – Debugging React Native apps</a:t>
            </a:r>
          </a:p>
          <a:p>
            <a:pPr indent="295275" algn="just">
              <a:lnSpc>
                <a:spcPct val="150000"/>
              </a:lnSpc>
            </a:pPr>
            <a:r>
              <a:rPr lang="en-US" sz="1600" b="1" dirty="0">
                <a:latin typeface="Times New Roman" panose="02020603050405020304" pitchFamily="18" charset="0"/>
                <a:cs typeface="Times New Roman" panose="02020603050405020304" pitchFamily="18" charset="0"/>
              </a:rPr>
              <a:t>Flipper</a:t>
            </a:r>
            <a:r>
              <a:rPr lang="en-US" sz="1600" dirty="0">
                <a:latin typeface="Times New Roman" panose="02020603050405020304" pitchFamily="18" charset="0"/>
                <a:cs typeface="Times New Roman" panose="02020603050405020304" pitchFamily="18" charset="0"/>
              </a:rPr>
              <a:t> – Debugging network, logs, and performance</a:t>
            </a:r>
          </a:p>
          <a:p>
            <a:pPr indent="295275" algn="just">
              <a:lnSpc>
                <a:spcPct val="150000"/>
              </a:lnSpc>
            </a:pPr>
            <a:r>
              <a:rPr lang="en-US" sz="1600" b="1" dirty="0">
                <a:latin typeface="Times New Roman" panose="02020603050405020304" pitchFamily="18" charset="0"/>
                <a:cs typeface="Times New Roman" panose="02020603050405020304" pitchFamily="18" charset="0"/>
              </a:rPr>
              <a:t>Jest + React Native Testing Library</a:t>
            </a:r>
            <a:r>
              <a:rPr lang="en-US" sz="1600" dirty="0">
                <a:latin typeface="Times New Roman" panose="02020603050405020304" pitchFamily="18" charset="0"/>
                <a:cs typeface="Times New Roman" panose="02020603050405020304" pitchFamily="18" charset="0"/>
              </a:rPr>
              <a:t> – Unit/UI testing</a:t>
            </a:r>
          </a:p>
        </p:txBody>
      </p:sp>
      <p:sp>
        <p:nvSpPr>
          <p:cNvPr id="10" name="TextBox 9">
            <a:extLst>
              <a:ext uri="{FF2B5EF4-FFF2-40B4-BE49-F238E27FC236}">
                <a16:creationId xmlns:a16="http://schemas.microsoft.com/office/drawing/2014/main" id="{5A216BEA-F264-2AF6-79A7-9C9DA60BE8EF}"/>
              </a:ext>
            </a:extLst>
          </p:cNvPr>
          <p:cNvSpPr txBox="1"/>
          <p:nvPr/>
        </p:nvSpPr>
        <p:spPr>
          <a:xfrm>
            <a:off x="6825078" y="1792194"/>
            <a:ext cx="6097772" cy="1571584"/>
          </a:xfrm>
          <a:prstGeom prst="rect">
            <a:avLst/>
          </a:prstGeom>
          <a:noFill/>
        </p:spPr>
        <p:txBody>
          <a:bodyPr wrap="square">
            <a:spAutoFit/>
          </a:bodyPr>
          <a:lstStyle/>
          <a:p>
            <a:pPr marL="285750" indent="-285750" algn="just">
              <a:lnSpc>
                <a:spcPct val="150000"/>
              </a:lnSpc>
              <a:buFont typeface="Wingdings" pitchFamily="2" charset="2"/>
              <a:buChar char="Ø"/>
            </a:pPr>
            <a:r>
              <a:rPr lang="en-US" sz="1800" b="1" dirty="0">
                <a:latin typeface="Times New Roman" panose="02020603050405020304" pitchFamily="18" charset="0"/>
                <a:cs typeface="Times New Roman" panose="02020603050405020304" pitchFamily="18" charset="0"/>
              </a:rPr>
              <a:t>Other Development Tools</a:t>
            </a:r>
            <a:endParaRPr lang="en-US" sz="1800" dirty="0">
              <a:latin typeface="Times New Roman" panose="02020603050405020304" pitchFamily="18" charset="0"/>
              <a:cs typeface="Times New Roman" panose="02020603050405020304" pitchFamily="18" charset="0"/>
            </a:endParaRPr>
          </a:p>
          <a:p>
            <a:pPr indent="295275" algn="just">
              <a:lnSpc>
                <a:spcPct val="150000"/>
              </a:lnSpc>
            </a:pPr>
            <a:r>
              <a:rPr lang="en-US" sz="1600" b="1" dirty="0">
                <a:latin typeface="Times New Roman" panose="02020603050405020304" pitchFamily="18" charset="0"/>
                <a:cs typeface="Times New Roman" panose="02020603050405020304" pitchFamily="18" charset="0"/>
              </a:rPr>
              <a:t>VS Code</a:t>
            </a:r>
            <a:r>
              <a:rPr lang="en-US" sz="1600" dirty="0">
                <a:latin typeface="Times New Roman" panose="02020603050405020304" pitchFamily="18" charset="0"/>
                <a:cs typeface="Times New Roman" panose="02020603050405020304" pitchFamily="18" charset="0"/>
              </a:rPr>
              <a:t> – Code editor</a:t>
            </a:r>
          </a:p>
          <a:p>
            <a:pPr indent="295275" algn="just">
              <a:lnSpc>
                <a:spcPct val="150000"/>
              </a:lnSpc>
            </a:pPr>
            <a:r>
              <a:rPr lang="en-US" sz="1600" b="1" dirty="0">
                <a:latin typeface="Times New Roman" panose="02020603050405020304" pitchFamily="18" charset="0"/>
                <a:cs typeface="Times New Roman" panose="02020603050405020304" pitchFamily="18" charset="0"/>
              </a:rPr>
              <a:t>Postman</a:t>
            </a:r>
            <a:r>
              <a:rPr lang="en-US" sz="1600" dirty="0">
                <a:latin typeface="Times New Roman" panose="02020603050405020304" pitchFamily="18" charset="0"/>
                <a:cs typeface="Times New Roman" panose="02020603050405020304" pitchFamily="18" charset="0"/>
              </a:rPr>
              <a:t> – API testing</a:t>
            </a:r>
          </a:p>
          <a:p>
            <a:pPr indent="295275" algn="just">
              <a:lnSpc>
                <a:spcPct val="150000"/>
              </a:lnSpc>
            </a:pPr>
            <a:r>
              <a:rPr lang="en-US" sz="1600" b="1" dirty="0" err="1">
                <a:latin typeface="Times New Roman" panose="02020603050405020304" pitchFamily="18" charset="0"/>
                <a:cs typeface="Times New Roman" panose="02020603050405020304" pitchFamily="18" charset="0"/>
              </a:rPr>
              <a:t>ESLint</a:t>
            </a:r>
            <a:r>
              <a:rPr lang="en-US" sz="1600" b="1" dirty="0">
                <a:latin typeface="Times New Roman" panose="02020603050405020304" pitchFamily="18" charset="0"/>
                <a:cs typeface="Times New Roman" panose="02020603050405020304" pitchFamily="18" charset="0"/>
              </a:rPr>
              <a:t> + Prettier</a:t>
            </a:r>
            <a:r>
              <a:rPr lang="en-US" sz="1600" dirty="0">
                <a:latin typeface="Times New Roman" panose="02020603050405020304" pitchFamily="18" charset="0"/>
                <a:cs typeface="Times New Roman" panose="02020603050405020304" pitchFamily="18" charset="0"/>
              </a:rPr>
              <a:t> – Code linting &amp; formatting</a:t>
            </a:r>
          </a:p>
        </p:txBody>
      </p:sp>
      <p:sp>
        <p:nvSpPr>
          <p:cNvPr id="9" name="TextBox 8">
            <a:extLst>
              <a:ext uri="{FF2B5EF4-FFF2-40B4-BE49-F238E27FC236}">
                <a16:creationId xmlns:a16="http://schemas.microsoft.com/office/drawing/2014/main" id="{97893A15-A4EF-4939-869B-DE75893B8684}"/>
              </a:ext>
            </a:extLst>
          </p:cNvPr>
          <p:cNvSpPr txBox="1"/>
          <p:nvPr/>
        </p:nvSpPr>
        <p:spPr>
          <a:xfrm>
            <a:off x="6396010" y="3706791"/>
            <a:ext cx="5629567" cy="2719912"/>
          </a:xfrm>
          <a:prstGeom prst="rect">
            <a:avLst/>
          </a:prstGeom>
          <a:noFill/>
        </p:spPr>
        <p:txBody>
          <a:bodyPr wrap="square">
            <a:spAutoFit/>
          </a:bodyPr>
          <a:lstStyle/>
          <a:p>
            <a:pPr marL="285750" indent="-285750" algn="just">
              <a:lnSpc>
                <a:spcPct val="150000"/>
              </a:lnSpc>
              <a:buFont typeface="Wingdings" pitchFamily="2" charset="2"/>
              <a:buChar char="Ø"/>
            </a:pPr>
            <a:r>
              <a:rPr lang="en-IN" sz="2000" b="1" dirty="0"/>
              <a:t>Additional Tools </a:t>
            </a:r>
          </a:p>
          <a:p>
            <a:pPr marL="285750" indent="-285750" algn="just">
              <a:lnSpc>
                <a:spcPct val="150000"/>
              </a:lnSpc>
              <a:buFont typeface="Wingdings" pitchFamily="2" charset="2"/>
              <a:buChar char="Ø"/>
            </a:pPr>
            <a:r>
              <a:rPr lang="en-US" sz="1800" dirty="0" err="1">
                <a:latin typeface="Times New Roman" panose="02020603050405020304" pitchFamily="18" charset="0"/>
                <a:cs typeface="Times New Roman" panose="02020603050405020304" pitchFamily="18" charset="0"/>
              </a:rPr>
              <a:t>Razorpay</a:t>
            </a:r>
            <a:r>
              <a:rPr lang="en-US" sz="1800" dirty="0">
                <a:latin typeface="Times New Roman" panose="02020603050405020304" pitchFamily="18" charset="0"/>
                <a:cs typeface="Times New Roman" panose="02020603050405020304" pitchFamily="18" charset="0"/>
              </a:rPr>
              <a:t> SDK – Payment gateway integration.</a:t>
            </a:r>
          </a:p>
          <a:p>
            <a:pPr marL="285750" indent="-285750" algn="just">
              <a:lnSpc>
                <a:spcPct val="150000"/>
              </a:lnSpc>
              <a:buFont typeface="Wingdings" pitchFamily="2" charset="2"/>
              <a:buChar char="Ø"/>
            </a:pPr>
            <a:r>
              <a:rPr lang="en-IN" sz="1800" dirty="0">
                <a:latin typeface="Times New Roman" panose="02020603050405020304" pitchFamily="18" charset="0"/>
                <a:cs typeface="Times New Roman" panose="02020603050405020304" pitchFamily="18" charset="0"/>
              </a:rPr>
              <a:t>Redux Toolkit – State management</a:t>
            </a:r>
            <a:r>
              <a:rPr lang="en-IN" sz="2400" dirty="0"/>
              <a:t>.</a:t>
            </a:r>
            <a:endParaRPr lang="en-US" sz="18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itchFamily="2" charset="2"/>
              <a:buChar char="Ø"/>
            </a:pPr>
            <a:r>
              <a:rPr lang="en-IN" sz="1800" dirty="0">
                <a:latin typeface="Times New Roman" panose="02020603050405020304" pitchFamily="18" charset="0"/>
                <a:cs typeface="Times New Roman" panose="02020603050405020304" pitchFamily="18" charset="0"/>
              </a:rPr>
              <a:t>Framer Motion – Animations &amp; transitions.</a:t>
            </a:r>
            <a:endParaRPr lang="en-IN" sz="1800"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itchFamily="2" charset="2"/>
              <a:buChar char="Ø"/>
            </a:pPr>
            <a:r>
              <a:rPr lang="en-US" sz="1800" dirty="0">
                <a:latin typeface="Times New Roman" panose="02020603050405020304" pitchFamily="18" charset="0"/>
                <a:cs typeface="Times New Roman" panose="02020603050405020304" pitchFamily="18" charset="0"/>
              </a:rPr>
              <a:t>Tailwind CSS – Utility-first responsive styling.</a:t>
            </a:r>
          </a:p>
          <a:p>
            <a:pPr marL="285750" indent="-285750" algn="just">
              <a:lnSpc>
                <a:spcPct val="150000"/>
              </a:lnSpc>
              <a:buFont typeface="Wingdings" pitchFamily="2" charset="2"/>
              <a:buChar char="Ø"/>
            </a:pPr>
            <a:r>
              <a:rPr lang="en-IN" sz="1800" dirty="0" err="1">
                <a:latin typeface="Times New Roman" panose="02020603050405020304" pitchFamily="18" charset="0"/>
                <a:cs typeface="Times New Roman" panose="02020603050405020304" pitchFamily="18" charset="0"/>
              </a:rPr>
              <a:t>npm</a:t>
            </a:r>
            <a:r>
              <a:rPr lang="en-IN" sz="1800" dirty="0">
                <a:latin typeface="Times New Roman" panose="02020603050405020304" pitchFamily="18" charset="0"/>
                <a:cs typeface="Times New Roman" panose="02020603050405020304" pitchFamily="18" charset="0"/>
              </a:rPr>
              <a:t> / yarn – Dependency management.</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4424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6AB04E76-B63F-A724-6364-48EB45F3F06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A20C49E-8483-9DF7-5632-4EB6DFBB6733}"/>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US" sz="2400" b="1" dirty="0">
                <a:solidFill>
                  <a:srgbClr val="04A2B9"/>
                </a:solidFill>
                <a:latin typeface="+mj-lt"/>
              </a:rPr>
              <a:t> GUI Screenshots</a:t>
            </a:r>
            <a:endParaRPr lang="en-IN" sz="2400" b="1" dirty="0">
              <a:solidFill>
                <a:srgbClr val="04A2B9"/>
              </a:solidFill>
              <a:latin typeface="+mj-lt"/>
            </a:endParaRPr>
          </a:p>
        </p:txBody>
      </p:sp>
      <p:pic>
        <p:nvPicPr>
          <p:cNvPr id="7" name="Picture 6">
            <a:extLst>
              <a:ext uri="{FF2B5EF4-FFF2-40B4-BE49-F238E27FC236}">
                <a16:creationId xmlns:a16="http://schemas.microsoft.com/office/drawing/2014/main" id="{7697756C-3E47-4792-A870-07B0E88C954C}"/>
              </a:ext>
            </a:extLst>
          </p:cNvPr>
          <p:cNvPicPr>
            <a:picLocks noChangeAspect="1"/>
          </p:cNvPicPr>
          <p:nvPr/>
        </p:nvPicPr>
        <p:blipFill>
          <a:blip r:embed="rId4"/>
          <a:stretch>
            <a:fillRect/>
          </a:stretch>
        </p:blipFill>
        <p:spPr>
          <a:xfrm>
            <a:off x="861279" y="1185557"/>
            <a:ext cx="10755086" cy="5255391"/>
          </a:xfrm>
          <a:prstGeom prst="rect">
            <a:avLst/>
          </a:prstGeom>
        </p:spPr>
      </p:pic>
    </p:spTree>
    <p:extLst>
      <p:ext uri="{BB962C8B-B14F-4D97-AF65-F5344CB8AC3E}">
        <p14:creationId xmlns:p14="http://schemas.microsoft.com/office/powerpoint/2010/main" val="1466893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6AB04E76-B63F-A724-6364-48EB45F3F06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A20C49E-8483-9DF7-5632-4EB6DFBB6733}"/>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US" sz="2400" b="1" dirty="0">
                <a:solidFill>
                  <a:srgbClr val="04A2B9"/>
                </a:solidFill>
                <a:latin typeface="+mj-lt"/>
              </a:rPr>
              <a:t> GUI Screenshots</a:t>
            </a:r>
            <a:endParaRPr lang="en-IN" sz="2400" b="1" dirty="0">
              <a:solidFill>
                <a:srgbClr val="04A2B9"/>
              </a:solidFill>
              <a:latin typeface="+mj-lt"/>
            </a:endParaRPr>
          </a:p>
        </p:txBody>
      </p:sp>
      <p:pic>
        <p:nvPicPr>
          <p:cNvPr id="3" name="Picture 2">
            <a:extLst>
              <a:ext uri="{FF2B5EF4-FFF2-40B4-BE49-F238E27FC236}">
                <a16:creationId xmlns:a16="http://schemas.microsoft.com/office/drawing/2014/main" id="{10E1582B-AA64-4B2A-858B-B2DD726526A7}"/>
              </a:ext>
            </a:extLst>
          </p:cNvPr>
          <p:cNvPicPr>
            <a:picLocks noChangeAspect="1"/>
          </p:cNvPicPr>
          <p:nvPr/>
        </p:nvPicPr>
        <p:blipFill>
          <a:blip r:embed="rId4"/>
          <a:stretch>
            <a:fillRect/>
          </a:stretch>
        </p:blipFill>
        <p:spPr>
          <a:xfrm>
            <a:off x="551036" y="1247444"/>
            <a:ext cx="11270850" cy="5101534"/>
          </a:xfrm>
          <a:prstGeom prst="rect">
            <a:avLst/>
          </a:prstGeom>
        </p:spPr>
      </p:pic>
    </p:spTree>
    <p:extLst>
      <p:ext uri="{BB962C8B-B14F-4D97-AF65-F5344CB8AC3E}">
        <p14:creationId xmlns:p14="http://schemas.microsoft.com/office/powerpoint/2010/main" val="2215297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6AB04E76-B63F-A724-6364-48EB45F3F06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A20C49E-8483-9DF7-5632-4EB6DFBB6733}"/>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US" sz="2400" b="1" dirty="0">
                <a:solidFill>
                  <a:srgbClr val="04A2B9"/>
                </a:solidFill>
                <a:latin typeface="+mj-lt"/>
              </a:rPr>
              <a:t> GUI Screenshots</a:t>
            </a:r>
            <a:endParaRPr lang="en-IN" sz="2400" b="1" dirty="0">
              <a:solidFill>
                <a:srgbClr val="04A2B9"/>
              </a:solidFill>
              <a:latin typeface="+mj-lt"/>
            </a:endParaRPr>
          </a:p>
        </p:txBody>
      </p:sp>
      <p:pic>
        <p:nvPicPr>
          <p:cNvPr id="5" name="Picture 4">
            <a:extLst>
              <a:ext uri="{FF2B5EF4-FFF2-40B4-BE49-F238E27FC236}">
                <a16:creationId xmlns:a16="http://schemas.microsoft.com/office/drawing/2014/main" id="{CA68F4DD-6A4B-4CC0-9F00-E56AECC9E785}"/>
              </a:ext>
            </a:extLst>
          </p:cNvPr>
          <p:cNvPicPr>
            <a:picLocks noChangeAspect="1"/>
          </p:cNvPicPr>
          <p:nvPr/>
        </p:nvPicPr>
        <p:blipFill>
          <a:blip r:embed="rId4"/>
          <a:stretch>
            <a:fillRect/>
          </a:stretch>
        </p:blipFill>
        <p:spPr>
          <a:xfrm>
            <a:off x="679598" y="1165231"/>
            <a:ext cx="10505739" cy="5275717"/>
          </a:xfrm>
          <a:prstGeom prst="rect">
            <a:avLst/>
          </a:prstGeom>
        </p:spPr>
      </p:pic>
    </p:spTree>
    <p:extLst>
      <p:ext uri="{BB962C8B-B14F-4D97-AF65-F5344CB8AC3E}">
        <p14:creationId xmlns:p14="http://schemas.microsoft.com/office/powerpoint/2010/main" val="1498322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6AB04E76-B63F-A724-6364-48EB45F3F06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A20C49E-8483-9DF7-5632-4EB6DFBB6733}"/>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US" sz="2400" b="1" dirty="0">
                <a:solidFill>
                  <a:srgbClr val="04A2B9"/>
                </a:solidFill>
                <a:latin typeface="+mj-lt"/>
              </a:rPr>
              <a:t> GUI Screenshots</a:t>
            </a:r>
            <a:endParaRPr lang="en-IN" sz="2400" b="1" dirty="0">
              <a:solidFill>
                <a:srgbClr val="04A2B9"/>
              </a:solidFill>
              <a:latin typeface="+mj-lt"/>
            </a:endParaRPr>
          </a:p>
        </p:txBody>
      </p:sp>
      <p:pic>
        <p:nvPicPr>
          <p:cNvPr id="3" name="Picture 2">
            <a:extLst>
              <a:ext uri="{FF2B5EF4-FFF2-40B4-BE49-F238E27FC236}">
                <a16:creationId xmlns:a16="http://schemas.microsoft.com/office/drawing/2014/main" id="{18C51F4F-991C-481E-9F59-B16FAE7DC1A5}"/>
              </a:ext>
            </a:extLst>
          </p:cNvPr>
          <p:cNvPicPr>
            <a:picLocks noChangeAspect="1"/>
          </p:cNvPicPr>
          <p:nvPr/>
        </p:nvPicPr>
        <p:blipFill>
          <a:blip r:embed="rId4"/>
          <a:stretch>
            <a:fillRect/>
          </a:stretch>
        </p:blipFill>
        <p:spPr>
          <a:xfrm>
            <a:off x="477336" y="1482811"/>
            <a:ext cx="5857561" cy="2677719"/>
          </a:xfrm>
          <a:prstGeom prst="rect">
            <a:avLst/>
          </a:prstGeom>
        </p:spPr>
      </p:pic>
      <p:pic>
        <p:nvPicPr>
          <p:cNvPr id="6" name="Picture 5">
            <a:extLst>
              <a:ext uri="{FF2B5EF4-FFF2-40B4-BE49-F238E27FC236}">
                <a16:creationId xmlns:a16="http://schemas.microsoft.com/office/drawing/2014/main" id="{C28E244E-786C-4B0E-922F-F1DC95EBA98D}"/>
              </a:ext>
            </a:extLst>
          </p:cNvPr>
          <p:cNvPicPr>
            <a:picLocks noChangeAspect="1"/>
          </p:cNvPicPr>
          <p:nvPr/>
        </p:nvPicPr>
        <p:blipFill>
          <a:blip r:embed="rId5"/>
          <a:stretch>
            <a:fillRect/>
          </a:stretch>
        </p:blipFill>
        <p:spPr>
          <a:xfrm>
            <a:off x="6565557" y="1482811"/>
            <a:ext cx="5313404" cy="2677719"/>
          </a:xfrm>
          <a:prstGeom prst="rect">
            <a:avLst/>
          </a:prstGeom>
        </p:spPr>
      </p:pic>
      <p:pic>
        <p:nvPicPr>
          <p:cNvPr id="8" name="Picture 7">
            <a:extLst>
              <a:ext uri="{FF2B5EF4-FFF2-40B4-BE49-F238E27FC236}">
                <a16:creationId xmlns:a16="http://schemas.microsoft.com/office/drawing/2014/main" id="{50B9E755-1F74-4AEE-92B7-76DA313EE55E}"/>
              </a:ext>
            </a:extLst>
          </p:cNvPr>
          <p:cNvPicPr>
            <a:picLocks noChangeAspect="1"/>
          </p:cNvPicPr>
          <p:nvPr/>
        </p:nvPicPr>
        <p:blipFill>
          <a:blip r:embed="rId6"/>
          <a:stretch>
            <a:fillRect/>
          </a:stretch>
        </p:blipFill>
        <p:spPr>
          <a:xfrm>
            <a:off x="666815" y="4291913"/>
            <a:ext cx="5313404" cy="2149035"/>
          </a:xfrm>
          <a:prstGeom prst="rect">
            <a:avLst/>
          </a:prstGeom>
        </p:spPr>
      </p:pic>
      <p:pic>
        <p:nvPicPr>
          <p:cNvPr id="10" name="Picture 9">
            <a:extLst>
              <a:ext uri="{FF2B5EF4-FFF2-40B4-BE49-F238E27FC236}">
                <a16:creationId xmlns:a16="http://schemas.microsoft.com/office/drawing/2014/main" id="{9B28DADE-46F7-495F-B355-F32CCAF0F9AC}"/>
              </a:ext>
            </a:extLst>
          </p:cNvPr>
          <p:cNvPicPr>
            <a:picLocks noChangeAspect="1"/>
          </p:cNvPicPr>
          <p:nvPr/>
        </p:nvPicPr>
        <p:blipFill>
          <a:blip r:embed="rId7"/>
          <a:stretch>
            <a:fillRect/>
          </a:stretch>
        </p:blipFill>
        <p:spPr>
          <a:xfrm>
            <a:off x="6565558" y="4186446"/>
            <a:ext cx="4766472" cy="2149035"/>
          </a:xfrm>
          <a:prstGeom prst="rect">
            <a:avLst/>
          </a:prstGeom>
        </p:spPr>
      </p:pic>
    </p:spTree>
    <p:extLst>
      <p:ext uri="{BB962C8B-B14F-4D97-AF65-F5344CB8AC3E}">
        <p14:creationId xmlns:p14="http://schemas.microsoft.com/office/powerpoint/2010/main" val="667586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0740F79A-687A-0093-9741-8CE21AB9E739}"/>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C7237F6A-2EA3-7768-55EA-2D41BE1112A8}"/>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US" sz="2400" b="1" dirty="0">
                <a:solidFill>
                  <a:srgbClr val="04A2B9"/>
                </a:solidFill>
                <a:latin typeface="+mj-lt"/>
              </a:rPr>
              <a:t>Home Page </a:t>
            </a:r>
            <a:endParaRPr lang="en-IN" sz="2400" b="1" dirty="0">
              <a:solidFill>
                <a:srgbClr val="04A2B9"/>
              </a:solidFill>
              <a:latin typeface="+mj-lt"/>
            </a:endParaRPr>
          </a:p>
        </p:txBody>
      </p:sp>
      <p:sp>
        <p:nvSpPr>
          <p:cNvPr id="3" name="Rectangle 2">
            <a:extLst>
              <a:ext uri="{FF2B5EF4-FFF2-40B4-BE49-F238E27FC236}">
                <a16:creationId xmlns:a16="http://schemas.microsoft.com/office/drawing/2014/main" id="{30A87EB2-34A4-3CFA-CC5A-28D9B69EFCAF}"/>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E00682E8-3E6E-4507-8968-DB9D71560A32}"/>
              </a:ext>
            </a:extLst>
          </p:cNvPr>
          <p:cNvPicPr>
            <a:picLocks noChangeAspect="1"/>
          </p:cNvPicPr>
          <p:nvPr/>
        </p:nvPicPr>
        <p:blipFill>
          <a:blip r:embed="rId4"/>
          <a:stretch>
            <a:fillRect/>
          </a:stretch>
        </p:blipFill>
        <p:spPr>
          <a:xfrm>
            <a:off x="261256" y="1224645"/>
            <a:ext cx="11511644" cy="2596242"/>
          </a:xfrm>
          <a:prstGeom prst="rect">
            <a:avLst/>
          </a:prstGeom>
        </p:spPr>
      </p:pic>
      <p:pic>
        <p:nvPicPr>
          <p:cNvPr id="9" name="Picture 8">
            <a:extLst>
              <a:ext uri="{FF2B5EF4-FFF2-40B4-BE49-F238E27FC236}">
                <a16:creationId xmlns:a16="http://schemas.microsoft.com/office/drawing/2014/main" id="{01246A42-7268-48F7-A9DC-6FD87291F32C}"/>
              </a:ext>
            </a:extLst>
          </p:cNvPr>
          <p:cNvPicPr>
            <a:picLocks noChangeAspect="1"/>
          </p:cNvPicPr>
          <p:nvPr/>
        </p:nvPicPr>
        <p:blipFill>
          <a:blip r:embed="rId5"/>
          <a:stretch>
            <a:fillRect/>
          </a:stretch>
        </p:blipFill>
        <p:spPr>
          <a:xfrm>
            <a:off x="261256" y="3820887"/>
            <a:ext cx="11276242" cy="2266283"/>
          </a:xfrm>
          <a:prstGeom prst="rect">
            <a:avLst/>
          </a:prstGeom>
        </p:spPr>
      </p:pic>
    </p:spTree>
    <p:extLst>
      <p:ext uri="{BB962C8B-B14F-4D97-AF65-F5344CB8AC3E}">
        <p14:creationId xmlns:p14="http://schemas.microsoft.com/office/powerpoint/2010/main" val="344227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FF55D41-981E-E282-CCE7-380739A3F98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27B2F3AD-0219-8E2C-4639-7D307E5CD89C}"/>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US" sz="2400" b="1" dirty="0">
                <a:solidFill>
                  <a:srgbClr val="04A2B9"/>
                </a:solidFill>
                <a:latin typeface="+mj-lt"/>
              </a:rPr>
              <a:t>GUI Screenshots </a:t>
            </a:r>
            <a:endParaRPr lang="en-IN" sz="2400" b="1" dirty="0">
              <a:solidFill>
                <a:srgbClr val="04A2B9"/>
              </a:solidFill>
              <a:latin typeface="+mj-lt"/>
            </a:endParaRPr>
          </a:p>
        </p:txBody>
      </p:sp>
      <p:sp>
        <p:nvSpPr>
          <p:cNvPr id="3" name="Rectangle 2">
            <a:extLst>
              <a:ext uri="{FF2B5EF4-FFF2-40B4-BE49-F238E27FC236}">
                <a16:creationId xmlns:a16="http://schemas.microsoft.com/office/drawing/2014/main" id="{DF32BCDE-0852-6EED-3259-4606C6E8E700}"/>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B1D9451-8BBF-4F32-9338-A95807621729}"/>
              </a:ext>
            </a:extLst>
          </p:cNvPr>
          <p:cNvPicPr>
            <a:picLocks noChangeAspect="1"/>
          </p:cNvPicPr>
          <p:nvPr/>
        </p:nvPicPr>
        <p:blipFill>
          <a:blip r:embed="rId4"/>
          <a:stretch>
            <a:fillRect/>
          </a:stretch>
        </p:blipFill>
        <p:spPr>
          <a:xfrm>
            <a:off x="472383" y="1055326"/>
            <a:ext cx="11406431" cy="2780269"/>
          </a:xfrm>
          <a:prstGeom prst="rect">
            <a:avLst/>
          </a:prstGeom>
        </p:spPr>
      </p:pic>
      <p:pic>
        <p:nvPicPr>
          <p:cNvPr id="9" name="Picture 8">
            <a:extLst>
              <a:ext uri="{FF2B5EF4-FFF2-40B4-BE49-F238E27FC236}">
                <a16:creationId xmlns:a16="http://schemas.microsoft.com/office/drawing/2014/main" id="{193A4E94-6427-4A6E-9F6D-CD622581A5B4}"/>
              </a:ext>
            </a:extLst>
          </p:cNvPr>
          <p:cNvPicPr>
            <a:picLocks noChangeAspect="1"/>
          </p:cNvPicPr>
          <p:nvPr/>
        </p:nvPicPr>
        <p:blipFill>
          <a:blip r:embed="rId5"/>
          <a:stretch>
            <a:fillRect/>
          </a:stretch>
        </p:blipFill>
        <p:spPr>
          <a:xfrm>
            <a:off x="472384" y="3956240"/>
            <a:ext cx="11406430" cy="2780269"/>
          </a:xfrm>
          <a:prstGeom prst="rect">
            <a:avLst/>
          </a:prstGeom>
        </p:spPr>
      </p:pic>
    </p:spTree>
    <p:extLst>
      <p:ext uri="{BB962C8B-B14F-4D97-AF65-F5344CB8AC3E}">
        <p14:creationId xmlns:p14="http://schemas.microsoft.com/office/powerpoint/2010/main" val="1505329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4FB592D8-A9BE-E5A4-44E0-18AE8DC4F1D9}"/>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11F62E76-7D33-7B5F-1873-05F104496CE4}"/>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mj-lt"/>
              </a:rPr>
              <a:t>GUI Screenshots</a:t>
            </a:r>
          </a:p>
        </p:txBody>
      </p:sp>
      <p:sp>
        <p:nvSpPr>
          <p:cNvPr id="3" name="Rectangle 2">
            <a:extLst>
              <a:ext uri="{FF2B5EF4-FFF2-40B4-BE49-F238E27FC236}">
                <a16:creationId xmlns:a16="http://schemas.microsoft.com/office/drawing/2014/main" id="{8020A125-CA72-63CE-01DF-89F76D3CBBC7}"/>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7646812-D048-498E-B2D5-6268E7D513DD}"/>
              </a:ext>
            </a:extLst>
          </p:cNvPr>
          <p:cNvPicPr>
            <a:picLocks noChangeAspect="1"/>
          </p:cNvPicPr>
          <p:nvPr/>
        </p:nvPicPr>
        <p:blipFill>
          <a:blip r:embed="rId4"/>
          <a:stretch>
            <a:fillRect/>
          </a:stretch>
        </p:blipFill>
        <p:spPr>
          <a:xfrm>
            <a:off x="365619" y="1153296"/>
            <a:ext cx="5236111" cy="5429977"/>
          </a:xfrm>
          <a:prstGeom prst="rect">
            <a:avLst/>
          </a:prstGeom>
        </p:spPr>
      </p:pic>
      <p:pic>
        <p:nvPicPr>
          <p:cNvPr id="8" name="Picture 7">
            <a:extLst>
              <a:ext uri="{FF2B5EF4-FFF2-40B4-BE49-F238E27FC236}">
                <a16:creationId xmlns:a16="http://schemas.microsoft.com/office/drawing/2014/main" id="{2687CE98-DF08-46E2-BD3C-4BB628FF8DCE}"/>
              </a:ext>
            </a:extLst>
          </p:cNvPr>
          <p:cNvPicPr>
            <a:picLocks noChangeAspect="1"/>
          </p:cNvPicPr>
          <p:nvPr/>
        </p:nvPicPr>
        <p:blipFill>
          <a:blip r:embed="rId5"/>
          <a:stretch>
            <a:fillRect/>
          </a:stretch>
        </p:blipFill>
        <p:spPr>
          <a:xfrm>
            <a:off x="5601730" y="1153297"/>
            <a:ext cx="6038826" cy="5429976"/>
          </a:xfrm>
          <a:prstGeom prst="rect">
            <a:avLst/>
          </a:prstGeom>
        </p:spPr>
      </p:pic>
    </p:spTree>
    <p:extLst>
      <p:ext uri="{BB962C8B-B14F-4D97-AF65-F5344CB8AC3E}">
        <p14:creationId xmlns:p14="http://schemas.microsoft.com/office/powerpoint/2010/main" val="2221301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descr="Bright blue glacial lake surrounded by white ice on a dark mountain">
            <a:extLst>
              <a:ext uri="{FF2B5EF4-FFF2-40B4-BE49-F238E27FC236}">
                <a16:creationId xmlns:a16="http://schemas.microsoft.com/office/drawing/2014/main" id="{02D58B26-09B6-4FA0-AC03-6927A86980B2}"/>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36605" y="1268627"/>
            <a:ext cx="4959179" cy="5261674"/>
          </a:xfrm>
          <a:prstGeom prst="rect">
            <a:avLst/>
          </a:prstGeom>
          <a:noFill/>
          <a:ln>
            <a:noFill/>
          </a:ln>
        </p:spPr>
      </p:pic>
      <p:pic>
        <p:nvPicPr>
          <p:cNvPr id="12" name="Picture 11">
            <a:extLst>
              <a:ext uri="{FF2B5EF4-FFF2-40B4-BE49-F238E27FC236}">
                <a16:creationId xmlns:a16="http://schemas.microsoft.com/office/drawing/2014/main" id="{544F6CD6-6478-4550-BCA3-19BFC29DF6F5}"/>
              </a:ext>
            </a:extLst>
          </p:cNvPr>
          <p:cNvPicPr>
            <a:picLocks noChangeAspect="1"/>
          </p:cNvPicPr>
          <p:nvPr/>
        </p:nvPicPr>
        <p:blipFill>
          <a:blip r:embed="rId5"/>
          <a:stretch>
            <a:fillRect/>
          </a:stretch>
        </p:blipFill>
        <p:spPr>
          <a:xfrm>
            <a:off x="5429606" y="1268627"/>
            <a:ext cx="6029226" cy="5261674"/>
          </a:xfrm>
          <a:prstGeom prst="rect">
            <a:avLst/>
          </a:prstGeom>
        </p:spPr>
      </p:pic>
    </p:spTree>
    <p:extLst>
      <p:ext uri="{BB962C8B-B14F-4D97-AF65-F5344CB8AC3E}">
        <p14:creationId xmlns:p14="http://schemas.microsoft.com/office/powerpoint/2010/main" val="3356346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C5C6DB97-6313-4716-B7C3-711BA239CEFC}"/>
              </a:ext>
            </a:extLst>
          </p:cNvPr>
          <p:cNvPicPr/>
          <p:nvPr/>
        </p:nvPicPr>
        <p:blipFill>
          <a:blip r:embed="rId4"/>
          <a:stretch>
            <a:fillRect/>
          </a:stretch>
        </p:blipFill>
        <p:spPr>
          <a:xfrm>
            <a:off x="235582" y="1379230"/>
            <a:ext cx="5728970" cy="5088681"/>
          </a:xfrm>
          <a:prstGeom prst="rect">
            <a:avLst/>
          </a:prstGeom>
        </p:spPr>
      </p:pic>
      <p:pic>
        <p:nvPicPr>
          <p:cNvPr id="7" name="Picture 6">
            <a:extLst>
              <a:ext uri="{FF2B5EF4-FFF2-40B4-BE49-F238E27FC236}">
                <a16:creationId xmlns:a16="http://schemas.microsoft.com/office/drawing/2014/main" id="{3DF842ED-483B-4F2B-BBFA-EB8F32D0C260}"/>
              </a:ext>
            </a:extLst>
          </p:cNvPr>
          <p:cNvPicPr/>
          <p:nvPr/>
        </p:nvPicPr>
        <p:blipFill>
          <a:blip r:embed="rId5"/>
          <a:stretch>
            <a:fillRect/>
          </a:stretch>
        </p:blipFill>
        <p:spPr>
          <a:xfrm>
            <a:off x="5847207" y="1379230"/>
            <a:ext cx="5728970" cy="5061718"/>
          </a:xfrm>
          <a:prstGeom prst="rect">
            <a:avLst/>
          </a:prstGeom>
        </p:spPr>
      </p:pic>
    </p:spTree>
    <p:extLst>
      <p:ext uri="{BB962C8B-B14F-4D97-AF65-F5344CB8AC3E}">
        <p14:creationId xmlns:p14="http://schemas.microsoft.com/office/powerpoint/2010/main" val="1358531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27CB857-D3EF-424C-B2E8-E5DEE93F22A0}"/>
              </a:ext>
            </a:extLst>
          </p:cNvPr>
          <p:cNvPicPr/>
          <p:nvPr/>
        </p:nvPicPr>
        <p:blipFill>
          <a:blip r:embed="rId4"/>
          <a:stretch>
            <a:fillRect/>
          </a:stretch>
        </p:blipFill>
        <p:spPr>
          <a:xfrm>
            <a:off x="654503" y="1379230"/>
            <a:ext cx="10628540" cy="5088681"/>
          </a:xfrm>
          <a:prstGeom prst="rect">
            <a:avLst/>
          </a:prstGeom>
        </p:spPr>
      </p:pic>
    </p:spTree>
    <p:extLst>
      <p:ext uri="{BB962C8B-B14F-4D97-AF65-F5344CB8AC3E}">
        <p14:creationId xmlns:p14="http://schemas.microsoft.com/office/powerpoint/2010/main" val="2166940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17FD6469-A5A2-44E3-B8F4-01492891EE3E}"/>
              </a:ext>
            </a:extLst>
          </p:cNvPr>
          <p:cNvPicPr/>
          <p:nvPr/>
        </p:nvPicPr>
        <p:blipFill>
          <a:blip r:embed="rId4"/>
          <a:stretch>
            <a:fillRect/>
          </a:stretch>
        </p:blipFill>
        <p:spPr>
          <a:xfrm>
            <a:off x="551036" y="1240971"/>
            <a:ext cx="11369260" cy="5088680"/>
          </a:xfrm>
          <a:prstGeom prst="rect">
            <a:avLst/>
          </a:prstGeom>
        </p:spPr>
      </p:pic>
    </p:spTree>
    <p:extLst>
      <p:ext uri="{BB962C8B-B14F-4D97-AF65-F5344CB8AC3E}">
        <p14:creationId xmlns:p14="http://schemas.microsoft.com/office/powerpoint/2010/main" val="532050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9713427E-45C6-49F3-833A-7DF0F2801684}"/>
              </a:ext>
            </a:extLst>
          </p:cNvPr>
          <p:cNvPicPr/>
          <p:nvPr/>
        </p:nvPicPr>
        <p:blipFill>
          <a:blip r:embed="rId4"/>
          <a:stretch>
            <a:fillRect/>
          </a:stretch>
        </p:blipFill>
        <p:spPr>
          <a:xfrm>
            <a:off x="1152088" y="1130840"/>
            <a:ext cx="8792012" cy="2792730"/>
          </a:xfrm>
          <a:prstGeom prst="rect">
            <a:avLst/>
          </a:prstGeom>
        </p:spPr>
      </p:pic>
      <p:pic>
        <p:nvPicPr>
          <p:cNvPr id="7" name="Picture 6">
            <a:extLst>
              <a:ext uri="{FF2B5EF4-FFF2-40B4-BE49-F238E27FC236}">
                <a16:creationId xmlns:a16="http://schemas.microsoft.com/office/drawing/2014/main" id="{6DE7E1C7-685D-4648-8E63-4C7C3C8B9D04}"/>
              </a:ext>
            </a:extLst>
          </p:cNvPr>
          <p:cNvPicPr/>
          <p:nvPr/>
        </p:nvPicPr>
        <p:blipFill>
          <a:blip r:embed="rId5"/>
          <a:stretch>
            <a:fillRect/>
          </a:stretch>
        </p:blipFill>
        <p:spPr>
          <a:xfrm>
            <a:off x="1500686" y="4171960"/>
            <a:ext cx="8965927" cy="2119630"/>
          </a:xfrm>
          <a:prstGeom prst="rect">
            <a:avLst/>
          </a:prstGeom>
        </p:spPr>
      </p:pic>
    </p:spTree>
    <p:extLst>
      <p:ext uri="{BB962C8B-B14F-4D97-AF65-F5344CB8AC3E}">
        <p14:creationId xmlns:p14="http://schemas.microsoft.com/office/powerpoint/2010/main" val="2397234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7723CD0-58E1-4F58-B87F-DF0EEAFCF486}"/>
              </a:ext>
            </a:extLst>
          </p:cNvPr>
          <p:cNvPicPr/>
          <p:nvPr/>
        </p:nvPicPr>
        <p:blipFill>
          <a:blip r:embed="rId4"/>
          <a:stretch>
            <a:fillRect/>
          </a:stretch>
        </p:blipFill>
        <p:spPr>
          <a:xfrm>
            <a:off x="832756" y="1379229"/>
            <a:ext cx="10704741" cy="4809299"/>
          </a:xfrm>
          <a:prstGeom prst="rect">
            <a:avLst/>
          </a:prstGeom>
        </p:spPr>
      </p:pic>
    </p:spTree>
    <p:extLst>
      <p:ext uri="{BB962C8B-B14F-4D97-AF65-F5344CB8AC3E}">
        <p14:creationId xmlns:p14="http://schemas.microsoft.com/office/powerpoint/2010/main" val="4238934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4428DE36-BDAF-4797-81BF-AD913CC659EE}"/>
              </a:ext>
            </a:extLst>
          </p:cNvPr>
          <p:cNvPicPr/>
          <p:nvPr/>
        </p:nvPicPr>
        <p:blipFill>
          <a:blip r:embed="rId4"/>
          <a:stretch>
            <a:fillRect/>
          </a:stretch>
        </p:blipFill>
        <p:spPr>
          <a:xfrm>
            <a:off x="1152088" y="1537970"/>
            <a:ext cx="9887824" cy="4568916"/>
          </a:xfrm>
          <a:prstGeom prst="rect">
            <a:avLst/>
          </a:prstGeom>
        </p:spPr>
      </p:pic>
    </p:spTree>
    <p:extLst>
      <p:ext uri="{BB962C8B-B14F-4D97-AF65-F5344CB8AC3E}">
        <p14:creationId xmlns:p14="http://schemas.microsoft.com/office/powerpoint/2010/main" val="2407381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3CB9253-1703-47F3-98FC-D8C3283D0AC5}"/>
              </a:ext>
            </a:extLst>
          </p:cNvPr>
          <p:cNvPicPr/>
          <p:nvPr/>
        </p:nvPicPr>
        <p:blipFill>
          <a:blip r:embed="rId4"/>
          <a:stretch>
            <a:fillRect/>
          </a:stretch>
        </p:blipFill>
        <p:spPr>
          <a:xfrm>
            <a:off x="356506" y="1379230"/>
            <a:ext cx="11478985" cy="4680480"/>
          </a:xfrm>
          <a:prstGeom prst="rect">
            <a:avLst/>
          </a:prstGeom>
        </p:spPr>
      </p:pic>
    </p:spTree>
    <p:extLst>
      <p:ext uri="{BB962C8B-B14F-4D97-AF65-F5344CB8AC3E}">
        <p14:creationId xmlns:p14="http://schemas.microsoft.com/office/powerpoint/2010/main" val="3612562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29E25E35-1DAF-4D2D-9F82-C8C180F4E555}"/>
              </a:ext>
            </a:extLst>
          </p:cNvPr>
          <p:cNvPicPr/>
          <p:nvPr/>
        </p:nvPicPr>
        <p:blipFill>
          <a:blip r:embed="rId4"/>
          <a:stretch>
            <a:fillRect/>
          </a:stretch>
        </p:blipFill>
        <p:spPr>
          <a:xfrm>
            <a:off x="551036" y="1379230"/>
            <a:ext cx="10986462" cy="4874613"/>
          </a:xfrm>
          <a:prstGeom prst="rect">
            <a:avLst/>
          </a:prstGeom>
        </p:spPr>
      </p:pic>
    </p:spTree>
    <p:extLst>
      <p:ext uri="{BB962C8B-B14F-4D97-AF65-F5344CB8AC3E}">
        <p14:creationId xmlns:p14="http://schemas.microsoft.com/office/powerpoint/2010/main" val="33971405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0F280545-E7C2-4935-9A01-8374950D4C99}"/>
              </a:ext>
            </a:extLst>
          </p:cNvPr>
          <p:cNvPicPr/>
          <p:nvPr/>
        </p:nvPicPr>
        <p:blipFill>
          <a:blip r:embed="rId4"/>
          <a:stretch>
            <a:fillRect/>
          </a:stretch>
        </p:blipFill>
        <p:spPr>
          <a:xfrm>
            <a:off x="551036" y="1379231"/>
            <a:ext cx="10488876" cy="2759714"/>
          </a:xfrm>
          <a:prstGeom prst="rect">
            <a:avLst/>
          </a:prstGeom>
        </p:spPr>
      </p:pic>
      <p:pic>
        <p:nvPicPr>
          <p:cNvPr id="5" name="Picture 4">
            <a:extLst>
              <a:ext uri="{FF2B5EF4-FFF2-40B4-BE49-F238E27FC236}">
                <a16:creationId xmlns:a16="http://schemas.microsoft.com/office/drawing/2014/main" id="{AB61A4BE-6C2C-4746-B1FA-01EDD71952B5}"/>
              </a:ext>
            </a:extLst>
          </p:cNvPr>
          <p:cNvPicPr/>
          <p:nvPr/>
        </p:nvPicPr>
        <p:blipFill>
          <a:blip r:embed="rId5"/>
          <a:stretch>
            <a:fillRect/>
          </a:stretch>
        </p:blipFill>
        <p:spPr>
          <a:xfrm>
            <a:off x="551036" y="4314285"/>
            <a:ext cx="10488876" cy="2328967"/>
          </a:xfrm>
          <a:prstGeom prst="rect">
            <a:avLst/>
          </a:prstGeom>
        </p:spPr>
      </p:pic>
    </p:spTree>
    <p:extLst>
      <p:ext uri="{BB962C8B-B14F-4D97-AF65-F5344CB8AC3E}">
        <p14:creationId xmlns:p14="http://schemas.microsoft.com/office/powerpoint/2010/main" val="4249657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E3462A6-0DDC-442B-94DD-C9C3282B9240}"/>
              </a:ext>
            </a:extLst>
          </p:cNvPr>
          <p:cNvPicPr/>
          <p:nvPr/>
        </p:nvPicPr>
        <p:blipFill>
          <a:blip r:embed="rId4"/>
          <a:stretch>
            <a:fillRect/>
          </a:stretch>
        </p:blipFill>
        <p:spPr>
          <a:xfrm>
            <a:off x="816429" y="964798"/>
            <a:ext cx="8144056" cy="2958772"/>
          </a:xfrm>
          <a:prstGeom prst="rect">
            <a:avLst/>
          </a:prstGeom>
        </p:spPr>
      </p:pic>
      <p:pic>
        <p:nvPicPr>
          <p:cNvPr id="5" name="Picture 4">
            <a:extLst>
              <a:ext uri="{FF2B5EF4-FFF2-40B4-BE49-F238E27FC236}">
                <a16:creationId xmlns:a16="http://schemas.microsoft.com/office/drawing/2014/main" id="{A6060C8A-242C-40FB-BDDB-C862B66C4308}"/>
              </a:ext>
            </a:extLst>
          </p:cNvPr>
          <p:cNvPicPr/>
          <p:nvPr/>
        </p:nvPicPr>
        <p:blipFill>
          <a:blip r:embed="rId5"/>
          <a:stretch>
            <a:fillRect/>
          </a:stretch>
        </p:blipFill>
        <p:spPr>
          <a:xfrm>
            <a:off x="930729" y="3923570"/>
            <a:ext cx="7899127" cy="2673173"/>
          </a:xfrm>
          <a:prstGeom prst="rect">
            <a:avLst/>
          </a:prstGeom>
        </p:spPr>
      </p:pic>
    </p:spTree>
    <p:extLst>
      <p:ext uri="{BB962C8B-B14F-4D97-AF65-F5344CB8AC3E}">
        <p14:creationId xmlns:p14="http://schemas.microsoft.com/office/powerpoint/2010/main" val="659945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5F34518-2BAB-4E5E-838B-8DBE49CF222F}"/>
              </a:ext>
            </a:extLst>
          </p:cNvPr>
          <p:cNvPicPr/>
          <p:nvPr/>
        </p:nvPicPr>
        <p:blipFill>
          <a:blip r:embed="rId4"/>
          <a:stretch>
            <a:fillRect/>
          </a:stretch>
        </p:blipFill>
        <p:spPr>
          <a:xfrm>
            <a:off x="1152088" y="1379230"/>
            <a:ext cx="10571826" cy="4792970"/>
          </a:xfrm>
          <a:prstGeom prst="rect">
            <a:avLst/>
          </a:prstGeom>
        </p:spPr>
      </p:pic>
    </p:spTree>
    <p:extLst>
      <p:ext uri="{BB962C8B-B14F-4D97-AF65-F5344CB8AC3E}">
        <p14:creationId xmlns:p14="http://schemas.microsoft.com/office/powerpoint/2010/main" val="3960642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A4FDDEBA-7658-4157-AF4D-287CD9702482}"/>
              </a:ext>
            </a:extLst>
          </p:cNvPr>
          <p:cNvPicPr/>
          <p:nvPr/>
        </p:nvPicPr>
        <p:blipFill>
          <a:blip r:embed="rId4"/>
          <a:stretch>
            <a:fillRect/>
          </a:stretch>
        </p:blipFill>
        <p:spPr>
          <a:xfrm>
            <a:off x="907159" y="1379231"/>
            <a:ext cx="9412498" cy="4548040"/>
          </a:xfrm>
          <a:prstGeom prst="rect">
            <a:avLst/>
          </a:prstGeom>
        </p:spPr>
      </p:pic>
    </p:spTree>
    <p:extLst>
      <p:ext uri="{BB962C8B-B14F-4D97-AF65-F5344CB8AC3E}">
        <p14:creationId xmlns:p14="http://schemas.microsoft.com/office/powerpoint/2010/main" val="8248298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F9CCDF89-CB3D-AA2F-ABAB-6BB9FCA9958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855F8D7-CDEC-D56D-CAE2-846A9D3D5462}"/>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GUI Screenshots</a:t>
            </a:r>
          </a:p>
        </p:txBody>
      </p:sp>
      <p:sp>
        <p:nvSpPr>
          <p:cNvPr id="3" name="Rectangle 2">
            <a:extLst>
              <a:ext uri="{FF2B5EF4-FFF2-40B4-BE49-F238E27FC236}">
                <a16:creationId xmlns:a16="http://schemas.microsoft.com/office/drawing/2014/main" id="{DFFF0183-4093-AA2A-9456-8132A96FEA74}"/>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457A6BE-86B7-4CC9-915D-26C4133A4A2D}"/>
              </a:ext>
            </a:extLst>
          </p:cNvPr>
          <p:cNvPicPr/>
          <p:nvPr/>
        </p:nvPicPr>
        <p:blipFill>
          <a:blip r:embed="rId4"/>
          <a:stretch>
            <a:fillRect/>
          </a:stretch>
        </p:blipFill>
        <p:spPr>
          <a:xfrm>
            <a:off x="551036" y="1254297"/>
            <a:ext cx="11123893" cy="5088680"/>
          </a:xfrm>
          <a:prstGeom prst="rect">
            <a:avLst/>
          </a:prstGeom>
        </p:spPr>
      </p:pic>
    </p:spTree>
    <p:extLst>
      <p:ext uri="{BB962C8B-B14F-4D97-AF65-F5344CB8AC3E}">
        <p14:creationId xmlns:p14="http://schemas.microsoft.com/office/powerpoint/2010/main" val="650362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90A655C0-421E-7CEA-8360-EB3DCF3846C8}"/>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795B856E-BDBB-23AA-A26F-BEAA5E83CCB9}"/>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User data </a:t>
            </a:r>
            <a:r>
              <a:rPr lang="en-IN" sz="2400" b="1" dirty="0" err="1">
                <a:solidFill>
                  <a:srgbClr val="04A2B9"/>
                </a:solidFill>
                <a:latin typeface="Times New Roman" panose="02020603050405020304" pitchFamily="18" charset="0"/>
                <a:cs typeface="Times New Roman" panose="02020603050405020304" pitchFamily="18" charset="0"/>
              </a:rPr>
              <a:t>inDB</a:t>
            </a:r>
            <a:endParaRPr lang="en-IN" sz="2400" b="1" dirty="0">
              <a:solidFill>
                <a:srgbClr val="04A2B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DBC40C34-736B-59CF-910D-CD537A4A1C63}"/>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3A012729-F6DC-4D1E-9B55-A92F46D0772D}"/>
              </a:ext>
            </a:extLst>
          </p:cNvPr>
          <p:cNvPicPr>
            <a:picLocks noChangeAspect="1"/>
          </p:cNvPicPr>
          <p:nvPr/>
        </p:nvPicPr>
        <p:blipFill>
          <a:blip r:embed="rId4"/>
          <a:stretch>
            <a:fillRect/>
          </a:stretch>
        </p:blipFill>
        <p:spPr>
          <a:xfrm>
            <a:off x="654503" y="1133488"/>
            <a:ext cx="10882995" cy="5432067"/>
          </a:xfrm>
          <a:prstGeom prst="rect">
            <a:avLst/>
          </a:prstGeom>
        </p:spPr>
      </p:pic>
    </p:spTree>
    <p:extLst>
      <p:ext uri="{BB962C8B-B14F-4D97-AF65-F5344CB8AC3E}">
        <p14:creationId xmlns:p14="http://schemas.microsoft.com/office/powerpoint/2010/main" val="35725344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A0445E65-B0D1-79C5-88E3-377D4519BBE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1DF832EA-68C1-A9C7-68E7-0AF2AEF8D3CC}"/>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Post Data in DB</a:t>
            </a:r>
          </a:p>
        </p:txBody>
      </p:sp>
      <p:sp>
        <p:nvSpPr>
          <p:cNvPr id="3" name="Rectangle 2">
            <a:extLst>
              <a:ext uri="{FF2B5EF4-FFF2-40B4-BE49-F238E27FC236}">
                <a16:creationId xmlns:a16="http://schemas.microsoft.com/office/drawing/2014/main" id="{D3BA8059-E026-32EF-9034-A964C2D10EF1}"/>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AE743546-F9B0-4022-8AAD-B873489C5A83}"/>
              </a:ext>
            </a:extLst>
          </p:cNvPr>
          <p:cNvPicPr>
            <a:picLocks noChangeAspect="1"/>
          </p:cNvPicPr>
          <p:nvPr/>
        </p:nvPicPr>
        <p:blipFill>
          <a:blip r:embed="rId4"/>
          <a:stretch>
            <a:fillRect/>
          </a:stretch>
        </p:blipFill>
        <p:spPr>
          <a:xfrm>
            <a:off x="796203" y="1219200"/>
            <a:ext cx="10385410" cy="5158095"/>
          </a:xfrm>
          <a:prstGeom prst="rect">
            <a:avLst/>
          </a:prstGeom>
        </p:spPr>
      </p:pic>
    </p:spTree>
    <p:extLst>
      <p:ext uri="{BB962C8B-B14F-4D97-AF65-F5344CB8AC3E}">
        <p14:creationId xmlns:p14="http://schemas.microsoft.com/office/powerpoint/2010/main" val="1200828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730BA969-6187-7295-72A4-F7487EEABC7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B845E320-9F82-72D3-6D7F-16EA0AFF9451}"/>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err="1">
                <a:solidFill>
                  <a:srgbClr val="04A2B9"/>
                </a:solidFill>
                <a:latin typeface="Times New Roman" panose="02020603050405020304" pitchFamily="18" charset="0"/>
                <a:cs typeface="Times New Roman" panose="02020603050405020304" pitchFamily="18" charset="0"/>
              </a:rPr>
              <a:t>PostLikes</a:t>
            </a:r>
            <a:r>
              <a:rPr lang="en-IN" sz="2400" b="1" dirty="0">
                <a:solidFill>
                  <a:srgbClr val="04A2B9"/>
                </a:solidFill>
                <a:latin typeface="Times New Roman" panose="02020603050405020304" pitchFamily="18" charset="0"/>
                <a:cs typeface="Times New Roman" panose="02020603050405020304" pitchFamily="18" charset="0"/>
              </a:rPr>
              <a:t> Data in Db</a:t>
            </a:r>
          </a:p>
        </p:txBody>
      </p:sp>
      <p:sp>
        <p:nvSpPr>
          <p:cNvPr id="3" name="Rectangle 2">
            <a:extLst>
              <a:ext uri="{FF2B5EF4-FFF2-40B4-BE49-F238E27FC236}">
                <a16:creationId xmlns:a16="http://schemas.microsoft.com/office/drawing/2014/main" id="{23B052CF-BEB6-7F98-7463-008A9099F5FE}"/>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A1086090-06C9-4A9B-B150-FBC3D1E082CF}"/>
              </a:ext>
            </a:extLst>
          </p:cNvPr>
          <p:cNvPicPr>
            <a:picLocks noChangeAspect="1"/>
          </p:cNvPicPr>
          <p:nvPr/>
        </p:nvPicPr>
        <p:blipFill>
          <a:blip r:embed="rId4"/>
          <a:stretch>
            <a:fillRect/>
          </a:stretch>
        </p:blipFill>
        <p:spPr>
          <a:xfrm>
            <a:off x="0" y="1188271"/>
            <a:ext cx="12192000" cy="4481457"/>
          </a:xfrm>
          <a:prstGeom prst="rect">
            <a:avLst/>
          </a:prstGeom>
        </p:spPr>
      </p:pic>
    </p:spTree>
    <p:extLst>
      <p:ext uri="{BB962C8B-B14F-4D97-AF65-F5344CB8AC3E}">
        <p14:creationId xmlns:p14="http://schemas.microsoft.com/office/powerpoint/2010/main" val="3032197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0F9BEDED-C60B-CF24-66C3-3C898B55C13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4A02410-F70C-53C3-FB14-3D39BA26963D}"/>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Comments data in </a:t>
            </a:r>
            <a:r>
              <a:rPr lang="en-IN" sz="2400" b="1" dirty="0" err="1">
                <a:solidFill>
                  <a:srgbClr val="04A2B9"/>
                </a:solidFill>
                <a:latin typeface="Times New Roman" panose="02020603050405020304" pitchFamily="18" charset="0"/>
                <a:cs typeface="Times New Roman" panose="02020603050405020304" pitchFamily="18" charset="0"/>
              </a:rPr>
              <a:t>Supabase</a:t>
            </a:r>
            <a:endParaRPr lang="en-IN" sz="2400" b="1" dirty="0">
              <a:solidFill>
                <a:srgbClr val="04A2B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9C0E1FD-5624-A09B-AC26-C811DD0F8E5F}"/>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3A97D768-0722-431F-BE8B-0FA6DC7BBBEF}"/>
              </a:ext>
            </a:extLst>
          </p:cNvPr>
          <p:cNvPicPr>
            <a:picLocks noChangeAspect="1"/>
          </p:cNvPicPr>
          <p:nvPr/>
        </p:nvPicPr>
        <p:blipFill>
          <a:blip r:embed="rId4"/>
          <a:stretch>
            <a:fillRect/>
          </a:stretch>
        </p:blipFill>
        <p:spPr>
          <a:xfrm>
            <a:off x="542054" y="1301578"/>
            <a:ext cx="11107889" cy="4879339"/>
          </a:xfrm>
          <a:prstGeom prst="rect">
            <a:avLst/>
          </a:prstGeom>
        </p:spPr>
      </p:pic>
    </p:spTree>
    <p:extLst>
      <p:ext uri="{BB962C8B-B14F-4D97-AF65-F5344CB8AC3E}">
        <p14:creationId xmlns:p14="http://schemas.microsoft.com/office/powerpoint/2010/main" val="2678186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0F9BEDED-C60B-CF24-66C3-3C898B55C13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4A02410-F70C-53C3-FB14-3D39BA26963D}"/>
              </a:ext>
            </a:extLst>
          </p:cNvPr>
          <p:cNvSpPr txBox="1">
            <a:spLocks noGrp="1"/>
          </p:cNvSpPr>
          <p:nvPr>
            <p:ph type="title"/>
          </p:nvPr>
        </p:nvSpPr>
        <p:spPr>
          <a:xfrm>
            <a:off x="551036" y="417052"/>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latin typeface="Times New Roman" panose="02020603050405020304" pitchFamily="18" charset="0"/>
                <a:cs typeface="Times New Roman" panose="02020603050405020304" pitchFamily="18" charset="0"/>
              </a:rPr>
              <a:t>Comments data in  POSTMAN</a:t>
            </a:r>
          </a:p>
        </p:txBody>
      </p:sp>
      <p:sp>
        <p:nvSpPr>
          <p:cNvPr id="3" name="Rectangle 2">
            <a:extLst>
              <a:ext uri="{FF2B5EF4-FFF2-40B4-BE49-F238E27FC236}">
                <a16:creationId xmlns:a16="http://schemas.microsoft.com/office/drawing/2014/main" id="{39C0E1FD-5624-A09B-AC26-C811DD0F8E5F}"/>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96BA9C19-8D6D-4B09-9B10-CCFEAD85BDD6}"/>
              </a:ext>
            </a:extLst>
          </p:cNvPr>
          <p:cNvPicPr/>
          <p:nvPr/>
        </p:nvPicPr>
        <p:blipFill>
          <a:blip r:embed="rId4"/>
          <a:stretch>
            <a:fillRect/>
          </a:stretch>
        </p:blipFill>
        <p:spPr>
          <a:xfrm>
            <a:off x="897924" y="1379230"/>
            <a:ext cx="9794790" cy="5061717"/>
          </a:xfrm>
          <a:prstGeom prst="rect">
            <a:avLst/>
          </a:prstGeom>
        </p:spPr>
      </p:pic>
    </p:spTree>
    <p:extLst>
      <p:ext uri="{BB962C8B-B14F-4D97-AF65-F5344CB8AC3E}">
        <p14:creationId xmlns:p14="http://schemas.microsoft.com/office/powerpoint/2010/main" val="41914433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CE0309AC-92EB-3A6B-B78E-14FCC2E1EE0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AF42108-AE47-F909-A4A5-B64D52C0D6F5}"/>
              </a:ext>
            </a:extLst>
          </p:cNvPr>
          <p:cNvSpPr txBox="1">
            <a:spLocks noGrp="1"/>
          </p:cNvSpPr>
          <p:nvPr>
            <p:ph type="title"/>
          </p:nvPr>
        </p:nvSpPr>
        <p:spPr>
          <a:xfrm>
            <a:off x="551037" y="390089"/>
            <a:ext cx="5544963" cy="345223"/>
          </a:xfrm>
          <a:prstGeom prst="rect">
            <a:avLst/>
          </a:prstGeom>
          <a:noFill/>
          <a:ln>
            <a:noFill/>
          </a:ln>
        </p:spPr>
        <p:txBody>
          <a:bodyPr spcFirstLastPara="1" wrap="square" lIns="0" tIns="12700" rIns="0" bIns="0" anchor="ctr" anchorCtr="0">
            <a:spAutoFit/>
          </a:bodyPr>
          <a:lstStyle/>
          <a:p>
            <a:r>
              <a:rPr lang="en-US" sz="2400" b="1" dirty="0">
                <a:solidFill>
                  <a:srgbClr val="04A2B9"/>
                </a:solidFill>
              </a:rPr>
              <a:t>Conclusion</a:t>
            </a:r>
          </a:p>
        </p:txBody>
      </p:sp>
      <p:sp>
        <p:nvSpPr>
          <p:cNvPr id="3" name="Rectangle 2">
            <a:extLst>
              <a:ext uri="{FF2B5EF4-FFF2-40B4-BE49-F238E27FC236}">
                <a16:creationId xmlns:a16="http://schemas.microsoft.com/office/drawing/2014/main" id="{03D84139-949E-47D1-7255-D37C983B8445}"/>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24EBC647-2116-CBA9-0871-5DC941FA0D15}"/>
              </a:ext>
            </a:extLst>
          </p:cNvPr>
          <p:cNvSpPr txBox="1"/>
          <p:nvPr/>
        </p:nvSpPr>
        <p:spPr>
          <a:xfrm>
            <a:off x="654502" y="1635853"/>
            <a:ext cx="10452683" cy="3903569"/>
          </a:xfrm>
          <a:prstGeom prst="rect">
            <a:avLst/>
          </a:prstGeom>
          <a:noFill/>
        </p:spPr>
        <p:txBody>
          <a:bodyPr wrap="square" rtlCol="0">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a:t>
            </a:r>
            <a:r>
              <a:rPr lang="en-US" sz="1800" b="1" dirty="0" err="1">
                <a:latin typeface="Times New Roman" panose="02020603050405020304" pitchFamily="18" charset="0"/>
                <a:cs typeface="Times New Roman" panose="02020603050405020304" pitchFamily="18" charset="0"/>
              </a:rPr>
              <a:t>StudyNotion</a:t>
            </a:r>
            <a:r>
              <a:rPr lang="en-US" sz="1800" dirty="0">
                <a:latin typeface="Times New Roman" panose="02020603050405020304" pitchFamily="18" charset="0"/>
                <a:cs typeface="Times New Roman" panose="02020603050405020304" pitchFamily="18" charset="0"/>
              </a:rPr>
              <a:t> project successfully demonstrates the development of a modern, </a:t>
            </a:r>
            <a:r>
              <a:rPr lang="en-US" sz="1800" b="1" dirty="0">
                <a:latin typeface="Times New Roman" panose="02020603050405020304" pitchFamily="18" charset="0"/>
                <a:cs typeface="Times New Roman" panose="02020603050405020304" pitchFamily="18" charset="0"/>
              </a:rPr>
              <a:t>full-stack ed-tech </a:t>
            </a:r>
            <a:r>
              <a:rPr lang="en-US" sz="1800" dirty="0">
                <a:latin typeface="Times New Roman" panose="02020603050405020304" pitchFamily="18" charset="0"/>
                <a:cs typeface="Times New Roman" panose="02020603050405020304" pitchFamily="18" charset="0"/>
              </a:rPr>
              <a:t>learning management system using the MERN stack (MongoDB, Express.js, ReactJS, and Node.js). It integrates essential features such as secure user </a:t>
            </a:r>
            <a:r>
              <a:rPr lang="en-US" sz="1800" b="1" dirty="0">
                <a:latin typeface="Times New Roman" panose="02020603050405020304" pitchFamily="18" charset="0"/>
                <a:cs typeface="Times New Roman" panose="02020603050405020304" pitchFamily="18" charset="0"/>
              </a:rPr>
              <a:t>authentication</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customizable</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profiles</a:t>
            </a:r>
            <a:r>
              <a:rPr lang="en-US" sz="1800" dirty="0">
                <a:latin typeface="Times New Roman" panose="02020603050405020304" pitchFamily="18" charset="0"/>
                <a:cs typeface="Times New Roman" panose="02020603050405020304" pitchFamily="18" charset="0"/>
              </a:rPr>
              <a:t>, course creation and management, video-based learning content, assignments, payments with </a:t>
            </a:r>
            <a:r>
              <a:rPr lang="en-US" sz="1800" b="1" dirty="0" err="1">
                <a:latin typeface="Times New Roman" panose="02020603050405020304" pitchFamily="18" charset="0"/>
                <a:cs typeface="Times New Roman" panose="02020603050405020304" pitchFamily="18" charset="0"/>
              </a:rPr>
              <a:t>Razorpay</a:t>
            </a:r>
            <a:r>
              <a:rPr lang="en-US" sz="1800" dirty="0">
                <a:latin typeface="Times New Roman" panose="02020603050405020304" pitchFamily="18" charset="0"/>
                <a:cs typeface="Times New Roman" panose="02020603050405020304" pitchFamily="18" charset="0"/>
              </a:rPr>
              <a:t>, and student feedback through ratings and reviews, providing learners and instructors with an engaging and interactive platform. By leveraging </a:t>
            </a:r>
            <a:r>
              <a:rPr lang="en-US" sz="1800" b="1" dirty="0">
                <a:latin typeface="Times New Roman" panose="02020603050405020304" pitchFamily="18" charset="0"/>
                <a:cs typeface="Times New Roman" panose="02020603050405020304" pitchFamily="18" charset="0"/>
              </a:rPr>
              <a:t>MongoDB</a:t>
            </a:r>
            <a:r>
              <a:rPr lang="en-US" sz="1800" dirty="0">
                <a:latin typeface="Times New Roman" panose="02020603050405020304" pitchFamily="18" charset="0"/>
                <a:cs typeface="Times New Roman" panose="02020603050405020304" pitchFamily="18" charset="0"/>
              </a:rPr>
              <a:t> for scalable data storage</a:t>
            </a:r>
            <a:r>
              <a:rPr lang="en-US" sz="1800" b="1" dirty="0">
                <a:latin typeface="Times New Roman" panose="02020603050405020304" pitchFamily="18" charset="0"/>
                <a:cs typeface="Times New Roman" panose="02020603050405020304" pitchFamily="18" charset="0"/>
              </a:rPr>
              <a:t>, Express.js </a:t>
            </a:r>
            <a:r>
              <a:rPr lang="en-US" sz="1800" dirty="0">
                <a:latin typeface="Times New Roman" panose="02020603050405020304" pitchFamily="18" charset="0"/>
                <a:cs typeface="Times New Roman" panose="02020603050405020304" pitchFamily="18" charset="0"/>
              </a:rPr>
              <a:t>and </a:t>
            </a:r>
            <a:r>
              <a:rPr lang="en-US" sz="1800" b="1" dirty="0">
                <a:latin typeface="Times New Roman" panose="02020603050405020304" pitchFamily="18" charset="0"/>
                <a:cs typeface="Times New Roman" panose="02020603050405020304" pitchFamily="18" charset="0"/>
              </a:rPr>
              <a:t>Node.js </a:t>
            </a:r>
            <a:r>
              <a:rPr lang="en-US" sz="1800" dirty="0">
                <a:latin typeface="Times New Roman" panose="02020603050405020304" pitchFamily="18" charset="0"/>
                <a:cs typeface="Times New Roman" panose="02020603050405020304" pitchFamily="18" charset="0"/>
              </a:rPr>
              <a:t>for robust backend services, and </a:t>
            </a:r>
            <a:r>
              <a:rPr lang="en-US" sz="1800" b="1" dirty="0">
                <a:latin typeface="Times New Roman" panose="02020603050405020304" pitchFamily="18" charset="0"/>
                <a:cs typeface="Times New Roman" panose="02020603050405020304" pitchFamily="18" charset="0"/>
              </a:rPr>
              <a:t>ReactJS with Redux </a:t>
            </a:r>
            <a:r>
              <a:rPr lang="en-US" sz="1800" dirty="0">
                <a:latin typeface="Times New Roman" panose="02020603050405020304" pitchFamily="18" charset="0"/>
                <a:cs typeface="Times New Roman" panose="02020603050405020304" pitchFamily="18" charset="0"/>
              </a:rPr>
              <a:t>for a responsive frontend, the platform ensures seamless performance, secure data handling, and efficient media management through </a:t>
            </a:r>
            <a:r>
              <a:rPr lang="en-US" sz="1800" dirty="0" err="1">
                <a:latin typeface="Times New Roman" panose="02020603050405020304" pitchFamily="18" charset="0"/>
                <a:cs typeface="Times New Roman" panose="02020603050405020304" pitchFamily="18" charset="0"/>
              </a:rPr>
              <a:t>Cloudinary</a:t>
            </a:r>
            <a:r>
              <a:rPr lang="en-US" sz="1800" dirty="0">
                <a:latin typeface="Times New Roman" panose="02020603050405020304" pitchFamily="18" charset="0"/>
                <a:cs typeface="Times New Roman" panose="02020603050405020304" pitchFamily="18" charset="0"/>
              </a:rPr>
              <a:t>. The use of scalable architecture, reusable components, and modular APIs makes the application adaptable for future enhancements and capable of supporting a growing user base</a:t>
            </a:r>
            <a:r>
              <a:rPr lang="en-US" sz="2400" dirty="0"/>
              <a:t>.</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60276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DA73C046-379C-E2E4-E86F-E3E1B9B0E30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14363C99-587A-D585-FE93-3E5534691F1C}"/>
              </a:ext>
            </a:extLst>
          </p:cNvPr>
          <p:cNvSpPr txBox="1">
            <a:spLocks noGrp="1"/>
          </p:cNvSpPr>
          <p:nvPr>
            <p:ph type="title"/>
          </p:nvPr>
        </p:nvSpPr>
        <p:spPr>
          <a:xfrm>
            <a:off x="551037" y="390089"/>
            <a:ext cx="5544963" cy="345223"/>
          </a:xfrm>
          <a:prstGeom prst="rect">
            <a:avLst/>
          </a:prstGeom>
          <a:noFill/>
          <a:ln>
            <a:noFill/>
          </a:ln>
        </p:spPr>
        <p:txBody>
          <a:bodyPr spcFirstLastPara="1" wrap="square" lIns="0" tIns="12700" rIns="0" bIns="0" anchor="ctr" anchorCtr="0">
            <a:spAutoFit/>
          </a:bodyPr>
          <a:lstStyle/>
          <a:p>
            <a:r>
              <a:rPr lang="en-IN" sz="2400" b="1" dirty="0">
                <a:solidFill>
                  <a:srgbClr val="04A2B9"/>
                </a:solidFill>
              </a:rPr>
              <a:t>References</a:t>
            </a:r>
          </a:p>
        </p:txBody>
      </p:sp>
      <p:sp>
        <p:nvSpPr>
          <p:cNvPr id="3" name="Rectangle 2">
            <a:extLst>
              <a:ext uri="{FF2B5EF4-FFF2-40B4-BE49-F238E27FC236}">
                <a16:creationId xmlns:a16="http://schemas.microsoft.com/office/drawing/2014/main" id="{7FC3BB59-63FB-15CF-DB92-A2F25CF40C29}"/>
              </a:ext>
            </a:extLst>
          </p:cNvPr>
          <p:cNvSpPr>
            <a:spLocks noChangeArrowheads="1"/>
          </p:cNvSpPr>
          <p:nvPr/>
        </p:nvSpPr>
        <p:spPr bwMode="auto">
          <a:xfrm>
            <a:off x="654502" y="1379230"/>
            <a:ext cx="10385410" cy="5088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51B7406A-1780-A65F-2F3B-32B89646320A}"/>
              </a:ext>
            </a:extLst>
          </p:cNvPr>
          <p:cNvSpPr txBox="1"/>
          <p:nvPr/>
        </p:nvSpPr>
        <p:spPr>
          <a:xfrm>
            <a:off x="395417" y="1744910"/>
            <a:ext cx="11069538" cy="2764859"/>
          </a:xfrm>
          <a:prstGeom prst="rect">
            <a:avLst/>
          </a:prstGeom>
          <a:noFill/>
        </p:spPr>
        <p:txBody>
          <a:bodyPr wrap="square" rtlCol="0">
            <a:spAutoFit/>
          </a:bodyPr>
          <a:lstStyle/>
          <a:p>
            <a:pPr marL="104140" indent="-6350" algn="just">
              <a:lnSpc>
                <a:spcPct val="103000"/>
              </a:lnSpc>
              <a:spcAft>
                <a:spcPts val="145"/>
              </a:spcAft>
            </a:pP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MongoDB, Inc. (2025). </a:t>
            </a:r>
            <a:r>
              <a:rPr lang="en-IN" sz="18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MongoDB Documentation</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[Online]. Available: </a:t>
            </a:r>
            <a:r>
              <a:rPr lang="en-IN" sz="1800" u="sng"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https://www.mongodb.com/docs</a:t>
            </a:r>
            <a:b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 Express.js Foundation (2025). </a:t>
            </a:r>
            <a:r>
              <a:rPr lang="en-IN" sz="18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Express.js Documentation</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[Online]. Available: https://expressjs.com</a:t>
            </a:r>
            <a:b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 Meta Platforms, Inc. (2025). </a:t>
            </a:r>
            <a:r>
              <a:rPr lang="en-IN" sz="18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React Official Documentation</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[Online]. Available: https://react.dev</a:t>
            </a:r>
            <a:b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 Node.js Foundation (2025). </a:t>
            </a:r>
            <a:r>
              <a:rPr lang="en-IN" sz="18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Node.js Documentation</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[Online]. Available: https://nodejs.org/en/docs</a:t>
            </a:r>
            <a:b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 </a:t>
            </a:r>
            <a:r>
              <a:rPr lang="en-IN" sz="18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Razorpay</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Software </a:t>
            </a:r>
            <a:r>
              <a:rPr lang="en-IN" sz="18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Pvt.</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Ltd. (2025). </a:t>
            </a:r>
            <a:r>
              <a:rPr lang="en-IN" sz="1800" i="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Razorpay</a:t>
            </a:r>
            <a:r>
              <a:rPr lang="en-IN" sz="18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Payment Gateway Documentation</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[Online]. Available: https://razorpay.com/docs</a:t>
            </a:r>
          </a:p>
          <a:p>
            <a:pPr marL="104140" indent="-6350" algn="just">
              <a:lnSpc>
                <a:spcPct val="103000"/>
              </a:lnSpc>
              <a:spcAft>
                <a:spcPts val="145"/>
              </a:spcAft>
            </a:pP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[6] Author (2025). </a:t>
            </a:r>
            <a:r>
              <a:rPr lang="en-IN" sz="1800" i="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Studynotion</a:t>
            </a:r>
            <a:r>
              <a:rPr lang="en-IN" sz="1800"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MERN Stack EdTech Project (GitHub Repository)</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[Online]. Available: https://github.com/anuragtiwari3100/Edtech-MERN-Stack-Online-Learning-Platform     </a:t>
            </a:r>
          </a:p>
          <a:p>
            <a:pPr>
              <a:lnSpc>
                <a:spcPct val="150000"/>
              </a:lnSpc>
            </a:pPr>
            <a:endParaRPr lang="en-US" sz="1800" dirty="0"/>
          </a:p>
        </p:txBody>
      </p:sp>
    </p:spTree>
    <p:extLst>
      <p:ext uri="{BB962C8B-B14F-4D97-AF65-F5344CB8AC3E}">
        <p14:creationId xmlns:p14="http://schemas.microsoft.com/office/powerpoint/2010/main" val="1750792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512</TotalTime>
  <Words>1915</Words>
  <Application>Microsoft Office PowerPoint</Application>
  <PresentationFormat>Widescreen</PresentationFormat>
  <Paragraphs>151</Paragraphs>
  <Slides>46</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Wingdings</vt:lpstr>
      <vt:lpstr>Arial</vt:lpstr>
      <vt:lpstr>Calibri</vt:lpstr>
      <vt:lpstr>Proxima Nova</vt:lpstr>
      <vt:lpstr>Courier New</vt:lpstr>
      <vt:lpstr>Times New Roman</vt:lpstr>
      <vt:lpstr>Office Theme</vt:lpstr>
      <vt:lpstr>PowerPoint Presentation</vt:lpstr>
      <vt:lpstr>PowerPoint Presentation</vt:lpstr>
      <vt:lpstr>Outline</vt:lpstr>
      <vt:lpstr>Introduction</vt:lpstr>
      <vt:lpstr>Abstract</vt:lpstr>
      <vt:lpstr>Objective</vt:lpstr>
      <vt:lpstr>Problem Statement </vt:lpstr>
      <vt:lpstr>Activity Diagram</vt:lpstr>
      <vt:lpstr>ER-Diaagram</vt:lpstr>
      <vt:lpstr>ER-Diagram</vt:lpstr>
      <vt:lpstr>ER-Diagram</vt:lpstr>
      <vt:lpstr>ER-Diaagram</vt:lpstr>
      <vt:lpstr>ER-Diaagram</vt:lpstr>
      <vt:lpstr>Features</vt:lpstr>
      <vt:lpstr>Tools and Technologies used </vt:lpstr>
      <vt:lpstr>Tools and Technologies used </vt:lpstr>
      <vt:lpstr>Tools and Technologies used </vt:lpstr>
      <vt:lpstr> GUI Screenshots</vt:lpstr>
      <vt:lpstr> GUI Screenshots</vt:lpstr>
      <vt:lpstr> GUI Screenshots</vt:lpstr>
      <vt:lpstr> GUI Screenshots</vt:lpstr>
      <vt:lpstr>Home Page </vt:lpstr>
      <vt:lpstr>GUI Screenshots </vt:lpstr>
      <vt:lpstr>GUI Screenshots</vt:lpstr>
      <vt:lpstr>GUI Screenshots</vt:lpstr>
      <vt:lpstr>GUI Screenshots</vt:lpstr>
      <vt:lpstr>GUI Screenshots</vt:lpstr>
      <vt:lpstr>GUI Screenshots</vt:lpstr>
      <vt:lpstr>GUI Screenshots</vt:lpstr>
      <vt:lpstr>GUI Screenshots</vt:lpstr>
      <vt:lpstr>GUI Screenshots</vt:lpstr>
      <vt:lpstr>GUI Screenshots</vt:lpstr>
      <vt:lpstr>GUI Screenshots</vt:lpstr>
      <vt:lpstr>GUI Screenshots</vt:lpstr>
      <vt:lpstr>GUI Screenshots</vt:lpstr>
      <vt:lpstr>GUI Screenshots</vt:lpstr>
      <vt:lpstr>GUI Screenshots</vt:lpstr>
      <vt:lpstr>GUI Screenshots</vt:lpstr>
      <vt:lpstr>User data inDB</vt:lpstr>
      <vt:lpstr>Post Data in DB</vt:lpstr>
      <vt:lpstr>PostLikes Data in Db</vt:lpstr>
      <vt:lpstr>Comments data in Supabase</vt:lpstr>
      <vt:lpstr>Comments data in  POSTMAN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Anurag Tiwari</cp:lastModifiedBy>
  <cp:revision>47</cp:revision>
  <dcterms:created xsi:type="dcterms:W3CDTF">2023-12-05T07:58:57Z</dcterms:created>
  <dcterms:modified xsi:type="dcterms:W3CDTF">2025-08-30T04:13:44Z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ies>
</file>